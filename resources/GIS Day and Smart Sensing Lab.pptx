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4"/>
    <p:sldMasterId id="2147483691" r:id="rId5"/>
  </p:sldMasterIdLst>
  <p:notesMasterIdLst>
    <p:notesMasterId r:id="rId16"/>
  </p:notesMasterIdLst>
  <p:sldIdLst>
    <p:sldId id="1790" r:id="rId6"/>
    <p:sldId id="1870" r:id="rId7"/>
    <p:sldId id="1871" r:id="rId8"/>
    <p:sldId id="1873" r:id="rId9"/>
    <p:sldId id="1874" r:id="rId10"/>
    <p:sldId id="1875" r:id="rId11"/>
    <p:sldId id="258" r:id="rId12"/>
    <p:sldId id="257" r:id="rId13"/>
    <p:sldId id="1876" r:id="rId14"/>
    <p:sldId id="1869" r:id="rId15"/>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F75434-C407-4C96-BE30-BA045C1A621E}" v="1" dt="2022-12-03T09:23:19.0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70" autoAdjust="0"/>
    <p:restoredTop sz="95503" autoAdjust="0"/>
  </p:normalViewPr>
  <p:slideViewPr>
    <p:cSldViewPr snapToGrid="0">
      <p:cViewPr varScale="1">
        <p:scale>
          <a:sx n="91" d="100"/>
          <a:sy n="91" d="100"/>
        </p:scale>
        <p:origin x="197" y="77"/>
      </p:cViewPr>
      <p:guideLst/>
    </p:cSldViewPr>
  </p:slideViewPr>
  <p:notesTextViewPr>
    <p:cViewPr>
      <p:scale>
        <a:sx n="100" d="100"/>
        <a:sy n="100" d="100"/>
      </p:scale>
      <p:origin x="0" y="0"/>
    </p:cViewPr>
  </p:notesTextViewPr>
  <p:notesViewPr>
    <p:cSldViewPr snapToGrid="0">
      <p:cViewPr varScale="1">
        <p:scale>
          <a:sx n="64" d="100"/>
          <a:sy n="64" d="100"/>
        </p:scale>
        <p:origin x="2966"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BAS, Sawaid [Alumni]" userId="2387a507-cbda-4287-bf5b-17afc4ccff65" providerId="ADAL" clId="{47F75434-C407-4C96-BE30-BA045C1A621E}"/>
    <pc:docChg chg="custSel addSld modSld">
      <pc:chgData name="ABBAS, Sawaid [Alumni]" userId="2387a507-cbda-4287-bf5b-17afc4ccff65" providerId="ADAL" clId="{47F75434-C407-4C96-BE30-BA045C1A621E}" dt="2022-12-03T09:23:19.006" v="3"/>
      <pc:docMkLst>
        <pc:docMk/>
      </pc:docMkLst>
      <pc:sldChg chg="add">
        <pc:chgData name="ABBAS, Sawaid [Alumni]" userId="2387a507-cbda-4287-bf5b-17afc4ccff65" providerId="ADAL" clId="{47F75434-C407-4C96-BE30-BA045C1A621E}" dt="2022-12-03T09:23:19.006" v="3"/>
        <pc:sldMkLst>
          <pc:docMk/>
          <pc:sldMk cId="4224362854" sldId="257"/>
        </pc:sldMkLst>
      </pc:sldChg>
      <pc:sldChg chg="add">
        <pc:chgData name="ABBAS, Sawaid [Alumni]" userId="2387a507-cbda-4287-bf5b-17afc4ccff65" providerId="ADAL" clId="{47F75434-C407-4C96-BE30-BA045C1A621E}" dt="2022-12-03T09:23:19.006" v="3"/>
        <pc:sldMkLst>
          <pc:docMk/>
          <pc:sldMk cId="3183913463" sldId="258"/>
        </pc:sldMkLst>
      </pc:sldChg>
      <pc:sldChg chg="delSp new mod">
        <pc:chgData name="ABBAS, Sawaid [Alumni]" userId="2387a507-cbda-4287-bf5b-17afc4ccff65" providerId="ADAL" clId="{47F75434-C407-4C96-BE30-BA045C1A621E}" dt="2022-12-03T09:22:40.839" v="2" actId="478"/>
        <pc:sldMkLst>
          <pc:docMk/>
          <pc:sldMk cId="4247078868" sldId="1876"/>
        </pc:sldMkLst>
        <pc:spChg chg="del">
          <ac:chgData name="ABBAS, Sawaid [Alumni]" userId="2387a507-cbda-4287-bf5b-17afc4ccff65" providerId="ADAL" clId="{47F75434-C407-4C96-BE30-BA045C1A621E}" dt="2022-12-03T09:22:39.875" v="1" actId="478"/>
          <ac:spMkLst>
            <pc:docMk/>
            <pc:sldMk cId="4247078868" sldId="1876"/>
            <ac:spMk id="2" creationId="{49164AC2-FBC0-811E-A533-D6E0C3D32F7A}"/>
          </ac:spMkLst>
        </pc:spChg>
        <pc:spChg chg="del">
          <ac:chgData name="ABBAS, Sawaid [Alumni]" userId="2387a507-cbda-4287-bf5b-17afc4ccff65" providerId="ADAL" clId="{47F75434-C407-4C96-BE30-BA045C1A621E}" dt="2022-12-03T09:22:40.839" v="2" actId="478"/>
          <ac:spMkLst>
            <pc:docMk/>
            <pc:sldMk cId="4247078868" sldId="1876"/>
            <ac:spMk id="3" creationId="{0BBFE6E2-5D86-C0BC-B089-977A2838C2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03141200-5A0A-4FDB-9709-1B2CCA80AF93}" type="datetimeFigureOut">
              <a:rPr lang="en-US" smtClean="0"/>
              <a:t>12/3/2022</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F304EEE-24E2-48EF-AC18-4ED632D394F5}" type="slidenum">
              <a:rPr lang="en-US" smtClean="0"/>
              <a:t>‹#›</a:t>
            </a:fld>
            <a:endParaRPr lang="en-US"/>
          </a:p>
        </p:txBody>
      </p:sp>
    </p:spTree>
    <p:extLst>
      <p:ext uri="{BB962C8B-B14F-4D97-AF65-F5344CB8AC3E}">
        <p14:creationId xmlns:p14="http://schemas.microsoft.com/office/powerpoint/2010/main" val="2073772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Good Morning everyone, thank you for giving me an opportunity to talk about Big Data and Cloud Computing for mapping crop intensification in Pakistan. The idea is based on evaluating the potential of open access solution to replace existing about replacing existing enterprises solution. </a:t>
            </a:r>
            <a:endParaRPr lang="zh-TW" altLang="en-US" dirty="0"/>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2AD5C5-7458-4654-A8F7-457996CC481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5104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CCC87F-7994-4170-85C3-994E3A8CD4ED}" type="slidenum">
              <a:rPr lang="en-US" smtClean="0"/>
              <a:pPr/>
              <a:t>10</a:t>
            </a:fld>
            <a:endParaRPr lang="en-US"/>
          </a:p>
        </p:txBody>
      </p:sp>
    </p:spTree>
    <p:extLst>
      <p:ext uri="{BB962C8B-B14F-4D97-AF65-F5344CB8AC3E}">
        <p14:creationId xmlns:p14="http://schemas.microsoft.com/office/powerpoint/2010/main" val="2257342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2702214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238875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4229363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032921-1E57-4A91-BCE6-F7073DF07339}"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3234105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032921-1E57-4A91-BCE6-F7073DF07339}" type="datetimeFigureOut">
              <a:rPr lang="en-US" smtClean="0"/>
              <a:t>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404776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032921-1E57-4A91-BCE6-F7073DF07339}" type="datetimeFigureOut">
              <a:rPr lang="en-US" smtClean="0"/>
              <a:t>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4158830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032921-1E57-4A91-BCE6-F7073DF07339}" type="datetimeFigureOut">
              <a:rPr lang="en-US" smtClean="0"/>
              <a:t>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9483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032921-1E57-4A91-BCE6-F7073DF07339}"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214810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032921-1E57-4A91-BCE6-F7073DF07339}"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26669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724186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376411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4215828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637964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2755842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032921-1E57-4A91-BCE6-F7073DF07339}"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910166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032921-1E57-4A91-BCE6-F7073DF07339}" type="datetimeFigureOut">
              <a:rPr lang="en-US" smtClean="0"/>
              <a:t>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42291010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032921-1E57-4A91-BCE6-F7073DF07339}" type="datetimeFigureOut">
              <a:rPr lang="en-US" smtClean="0"/>
              <a:t>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150125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032921-1E57-4A91-BCE6-F7073DF07339}" type="datetimeFigureOut">
              <a:rPr lang="en-US" smtClean="0"/>
              <a:t>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2591686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032921-1E57-4A91-BCE6-F7073DF07339}"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15582640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032921-1E57-4A91-BCE6-F7073DF07339}" type="datetimeFigureOut">
              <a:rPr lang="en-US" smtClean="0"/>
              <a:t>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398817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22556557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032921-1E57-4A91-BCE6-F7073DF07339}" type="datetimeFigureOut">
              <a:rPr lang="en-US" smtClean="0"/>
              <a:t>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D53DF5-5655-48CA-842B-8B219F1EDDF2}" type="slidenum">
              <a:rPr lang="en-US" smtClean="0"/>
              <a:t>‹#›</a:t>
            </a:fld>
            <a:endParaRPr lang="en-US"/>
          </a:p>
        </p:txBody>
      </p:sp>
    </p:spTree>
    <p:extLst>
      <p:ext uri="{BB962C8B-B14F-4D97-AF65-F5344CB8AC3E}">
        <p14:creationId xmlns:p14="http://schemas.microsoft.com/office/powerpoint/2010/main" val="27744544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stretch>
            <a:fillRect/>
          </a:stretch>
        </p:blipFill>
        <p:spPr>
          <a:xfrm>
            <a:off x="9031112" y="6336002"/>
            <a:ext cx="2773705" cy="353084"/>
          </a:xfrm>
          <a:prstGeom prst="rect">
            <a:avLst/>
          </a:prstGeom>
        </p:spPr>
      </p:pic>
      <p:sp>
        <p:nvSpPr>
          <p:cNvPr id="12" name="Rectangle 11"/>
          <p:cNvSpPr/>
          <p:nvPr userDrawn="1"/>
        </p:nvSpPr>
        <p:spPr>
          <a:xfrm>
            <a:off x="-1" y="3369299"/>
            <a:ext cx="8562189" cy="3488701"/>
          </a:xfrm>
          <a:prstGeom prst="rect">
            <a:avLst/>
          </a:prstGeom>
          <a:solidFill>
            <a:schemeClr val="bg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prstClr val="white"/>
              </a:solidFill>
            </a:endParaRPr>
          </a:p>
        </p:txBody>
      </p:sp>
      <p:sp>
        <p:nvSpPr>
          <p:cNvPr id="16" name="Title 1"/>
          <p:cNvSpPr>
            <a:spLocks noGrp="1"/>
          </p:cNvSpPr>
          <p:nvPr>
            <p:ph type="ctrTitle"/>
          </p:nvPr>
        </p:nvSpPr>
        <p:spPr>
          <a:xfrm>
            <a:off x="428975" y="3689691"/>
            <a:ext cx="6972941" cy="1543051"/>
          </a:xfrm>
        </p:spPr>
        <p:txBody>
          <a:bodyPr anchor="b">
            <a:noAutofit/>
          </a:bodyPr>
          <a:lstStyle>
            <a:lvl1pPr algn="l">
              <a:defRPr sz="5335" b="0" baseline="0">
                <a:solidFill>
                  <a:schemeClr val="tx1"/>
                </a:solidFill>
              </a:defRPr>
            </a:lvl1pPr>
          </a:lstStyle>
          <a:p>
            <a:endParaRPr lang="en-US" dirty="0"/>
          </a:p>
        </p:txBody>
      </p:sp>
      <p:sp>
        <p:nvSpPr>
          <p:cNvPr id="17" name="Subtitle 2"/>
          <p:cNvSpPr>
            <a:spLocks noGrp="1"/>
          </p:cNvSpPr>
          <p:nvPr>
            <p:ph type="subTitle" idx="1"/>
          </p:nvPr>
        </p:nvSpPr>
        <p:spPr>
          <a:xfrm>
            <a:off x="440428" y="5232742"/>
            <a:ext cx="6960067" cy="1329796"/>
          </a:xfrm>
        </p:spPr>
        <p:txBody>
          <a:bodyPr>
            <a:normAutofit/>
          </a:bodyPr>
          <a:lstStyle>
            <a:lvl1pPr marL="0" indent="0" algn="l">
              <a:buNone/>
              <a:defRPr sz="1865">
                <a:solidFill>
                  <a:schemeClr val="tx1"/>
                </a:solidFill>
              </a:defRPr>
            </a:lvl1pPr>
            <a:lvl2pPr marL="609600" indent="0" algn="ctr">
              <a:buNone/>
              <a:defRPr sz="2665"/>
            </a:lvl2pPr>
            <a:lvl3pPr marL="1219200" indent="0" algn="ctr">
              <a:buNone/>
              <a:defRPr sz="2400"/>
            </a:lvl3pPr>
            <a:lvl4pPr marL="1828800" indent="0" algn="ctr">
              <a:buNone/>
              <a:defRPr sz="2135"/>
            </a:lvl4pPr>
            <a:lvl5pPr marL="2438400" indent="0" algn="ctr">
              <a:buNone/>
              <a:defRPr sz="2135"/>
            </a:lvl5pPr>
            <a:lvl6pPr marL="3048000" indent="0" algn="ctr">
              <a:buNone/>
              <a:defRPr sz="2135"/>
            </a:lvl6pPr>
            <a:lvl7pPr marL="3657600" indent="0" algn="ctr">
              <a:buNone/>
              <a:defRPr sz="2135"/>
            </a:lvl7pPr>
            <a:lvl8pPr marL="4267200" indent="0" algn="ctr">
              <a:buNone/>
              <a:defRPr sz="2135"/>
            </a:lvl8pPr>
            <a:lvl9pPr marL="4876800" indent="0" algn="ctr">
              <a:buNone/>
              <a:defRPr sz="2135"/>
            </a:lvl9pPr>
          </a:lstStyle>
          <a:p>
            <a:r>
              <a:rPr lang="en-US" dirty="0"/>
              <a:t>Click to edit Master subtitle style</a:t>
            </a:r>
          </a:p>
        </p:txBody>
      </p:sp>
      <p:pic>
        <p:nvPicPr>
          <p:cNvPr id="8" name="Picture 6" descr="SERVIR_PPT_background1.jpg">
            <a:extLst>
              <a:ext uri="{FF2B5EF4-FFF2-40B4-BE49-F238E27FC236}">
                <a16:creationId xmlns:a16="http://schemas.microsoft.com/office/drawing/2014/main" id="{B12FB4E0-81B6-4CA2-A26C-545D161F98E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0"/>
            <a:ext cx="12192000" cy="91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93746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17" name="Title 1"/>
          <p:cNvSpPr>
            <a:spLocks noGrp="1"/>
          </p:cNvSpPr>
          <p:nvPr>
            <p:ph type="title"/>
          </p:nvPr>
        </p:nvSpPr>
        <p:spPr>
          <a:xfrm>
            <a:off x="355600" y="745368"/>
            <a:ext cx="10998200" cy="727832"/>
          </a:xfrm>
        </p:spPr>
        <p:txBody>
          <a:bodyPr>
            <a:normAutofit/>
          </a:bodyPr>
          <a:lstStyle>
            <a:lvl1pPr>
              <a:defRPr sz="2933"/>
            </a:lvl1pPr>
          </a:lstStyle>
          <a:p>
            <a:r>
              <a:rPr lang="en-US" dirty="0"/>
              <a:t>Click to edit Master title style</a:t>
            </a:r>
          </a:p>
        </p:txBody>
      </p:sp>
      <p:sp>
        <p:nvSpPr>
          <p:cNvPr id="18" name="Content Placeholder 2"/>
          <p:cNvSpPr>
            <a:spLocks noGrp="1"/>
          </p:cNvSpPr>
          <p:nvPr>
            <p:ph idx="1"/>
          </p:nvPr>
        </p:nvSpPr>
        <p:spPr>
          <a:xfrm>
            <a:off x="355600" y="1574801"/>
            <a:ext cx="10998200" cy="4602164"/>
          </a:xfrm>
        </p:spPr>
        <p:txBody>
          <a:bodyPr>
            <a:normAutofit/>
          </a:bodyPr>
          <a:lstStyle>
            <a:lvl1pPr marL="304792" indent="-304792">
              <a:buFont typeface="Arial" panose="020B0604020202020204" pitchFamily="34" charset="0"/>
              <a:buChar char="•"/>
              <a:defRPr sz="2400">
                <a:solidFill>
                  <a:schemeClr val="tx1"/>
                </a:solidFill>
              </a:defRPr>
            </a:lvl1pPr>
            <a:lvl2pPr>
              <a:defRPr sz="2133">
                <a:solidFill>
                  <a:schemeClr val="tx1"/>
                </a:solidFill>
              </a:defRPr>
            </a:lvl2pPr>
            <a:lvl3pPr marL="1523962" indent="-304792">
              <a:buFont typeface="Arial" panose="020B0604020202020204" pitchFamily="34" charset="0"/>
              <a:buChar char="•"/>
              <a:defRPr sz="1867">
                <a:solidFill>
                  <a:schemeClr val="tx1"/>
                </a:solidFill>
              </a:defRPr>
            </a:lvl3pPr>
            <a:lvl4pPr>
              <a:defRPr sz="1600">
                <a:solidFill>
                  <a:schemeClr val="tx1"/>
                </a:solidFill>
              </a:defRPr>
            </a:lvl4pPr>
            <a:lvl5pP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6924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032921-1E57-4A91-BCE6-F7073DF07339}" type="datetimeFigureOut">
              <a:rPr lang="en-US" smtClean="0"/>
              <a:t>12/3/2022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D53DF5-5655-48CA-842B-8B219F1EDDF2}" type="slidenum">
              <a:rPr lang="en-US" smtClean="0"/>
              <a:t>‹#›</a:t>
            </a:fld>
            <a:endParaRPr lang="en-US"/>
          </a:p>
        </p:txBody>
      </p:sp>
    </p:spTree>
    <p:extLst>
      <p:ext uri="{BB962C8B-B14F-4D97-AF65-F5344CB8AC3E}">
        <p14:creationId xmlns:p14="http://schemas.microsoft.com/office/powerpoint/2010/main" val="4016977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032921-1E57-4A91-BCE6-F7073DF07339}" type="datetimeFigureOut">
              <a:rPr lang="en-US" smtClean="0"/>
              <a:t>12/3/2022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D53DF5-5655-48CA-842B-8B219F1EDDF2}" type="slidenum">
              <a:rPr lang="en-US" smtClean="0"/>
              <a:t>‹#›</a:t>
            </a:fld>
            <a:endParaRPr lang="en-US"/>
          </a:p>
        </p:txBody>
      </p:sp>
    </p:spTree>
    <p:extLst>
      <p:ext uri="{BB962C8B-B14F-4D97-AF65-F5344CB8AC3E}">
        <p14:creationId xmlns:p14="http://schemas.microsoft.com/office/powerpoint/2010/main" val="1549074271"/>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3.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0.jpeg"/><Relationship Id="rId13" Type="http://schemas.openxmlformats.org/officeDocument/2006/relationships/image" Target="../media/image25.jpeg"/><Relationship Id="rId3" Type="http://schemas.openxmlformats.org/officeDocument/2006/relationships/image" Target="../media/image15.jpeg"/><Relationship Id="rId7" Type="http://schemas.openxmlformats.org/officeDocument/2006/relationships/image" Target="../media/image19.jpeg"/><Relationship Id="rId12" Type="http://schemas.openxmlformats.org/officeDocument/2006/relationships/image" Target="../media/image24.jpeg"/><Relationship Id="rId2" Type="http://schemas.openxmlformats.org/officeDocument/2006/relationships/image" Target="../media/image14.jpeg"/><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5" Type="http://schemas.openxmlformats.org/officeDocument/2006/relationships/image" Target="../media/image2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 Id="rId14" Type="http://schemas.openxmlformats.org/officeDocument/2006/relationships/image" Target="../media/image26.jpeg"/></Relationships>
</file>

<file path=ppt/slides/_rels/slide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2">
            <a:extLst>
              <a:ext uri="{FF2B5EF4-FFF2-40B4-BE49-F238E27FC236}">
                <a16:creationId xmlns:a16="http://schemas.microsoft.com/office/drawing/2014/main" id="{AA5EAF6D-849D-4EE3-AAE1-23F66E92AE5E}"/>
              </a:ext>
            </a:extLst>
          </p:cNvPr>
          <p:cNvSpPr>
            <a:spLocks noGrp="1"/>
          </p:cNvSpPr>
          <p:nvPr>
            <p:ph type="ctrTitle"/>
          </p:nvPr>
        </p:nvSpPr>
        <p:spPr>
          <a:xfrm>
            <a:off x="-45622" y="-1677798"/>
            <a:ext cx="12192000" cy="3213655"/>
          </a:xfrm>
        </p:spPr>
        <p:txBody>
          <a:bodyPr/>
          <a:lstStyle/>
          <a:p>
            <a:pPr algn="ctr" defTabSz="1218565"/>
            <a:r>
              <a:rPr lang="en-GB" sz="4400" b="1" dirty="0">
                <a:solidFill>
                  <a:schemeClr val="bg1"/>
                </a:solidFill>
                <a:latin typeface="Times New Roman" panose="02020603050405020304" pitchFamily="18" charset="0"/>
                <a:cs typeface="Times New Roman" panose="02020603050405020304" pitchFamily="18" charset="0"/>
              </a:rPr>
              <a:t>New Developments in the Centre for Geographical Information System </a:t>
            </a:r>
            <a:endParaRPr lang="en-HK" sz="2800" b="1"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8186FD85-FF94-4F54-9815-C90D995AAF8D}"/>
              </a:ext>
            </a:extLst>
          </p:cNvPr>
          <p:cNvSpPr txBox="1">
            <a:spLocks noChangeArrowheads="1"/>
          </p:cNvSpPr>
          <p:nvPr/>
        </p:nvSpPr>
        <p:spPr bwMode="auto">
          <a:xfrm>
            <a:off x="9641840" y="5705764"/>
            <a:ext cx="2349152" cy="37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ctr" rtl="0" eaLnBrk="0" fontAlgn="base" hangingPunct="0">
              <a:lnSpc>
                <a:spcPct val="85000"/>
              </a:lnSpc>
              <a:spcBef>
                <a:spcPct val="0"/>
              </a:spcBef>
              <a:spcAft>
                <a:spcPct val="0"/>
              </a:spcAft>
              <a:defRPr sz="3200" b="1">
                <a:solidFill>
                  <a:srgbClr val="000000"/>
                </a:solidFill>
                <a:effectLst>
                  <a:outerShdw blurRad="38100" dist="38100" dir="2700000" algn="tl">
                    <a:srgbClr val="FFFFFF"/>
                  </a:outerShdw>
                </a:effectLst>
                <a:latin typeface="+mj-lt"/>
                <a:ea typeface="+mj-ea"/>
                <a:cs typeface="+mj-cs"/>
              </a:defRPr>
            </a:lvl1pPr>
            <a:lvl2pPr algn="l" rtl="0" eaLnBrk="0" fontAlgn="base" hangingPunct="0">
              <a:spcBef>
                <a:spcPct val="0"/>
              </a:spcBef>
              <a:spcAft>
                <a:spcPct val="0"/>
              </a:spcAft>
              <a:defRPr sz="3200" b="1">
                <a:solidFill>
                  <a:srgbClr val="000000"/>
                </a:solidFill>
                <a:latin typeface="Arial" pitchFamily="34" charset="0"/>
              </a:defRPr>
            </a:lvl2pPr>
            <a:lvl3pPr algn="l" rtl="0" eaLnBrk="0" fontAlgn="base" hangingPunct="0">
              <a:spcBef>
                <a:spcPct val="0"/>
              </a:spcBef>
              <a:spcAft>
                <a:spcPct val="0"/>
              </a:spcAft>
              <a:defRPr sz="3200" b="1">
                <a:solidFill>
                  <a:srgbClr val="000000"/>
                </a:solidFill>
                <a:latin typeface="Arial" pitchFamily="34" charset="0"/>
              </a:defRPr>
            </a:lvl3pPr>
            <a:lvl4pPr algn="l" rtl="0" eaLnBrk="0" fontAlgn="base" hangingPunct="0">
              <a:spcBef>
                <a:spcPct val="0"/>
              </a:spcBef>
              <a:spcAft>
                <a:spcPct val="0"/>
              </a:spcAft>
              <a:defRPr sz="3200" b="1">
                <a:solidFill>
                  <a:srgbClr val="000000"/>
                </a:solidFill>
                <a:latin typeface="Arial" pitchFamily="34" charset="0"/>
              </a:defRPr>
            </a:lvl4pPr>
            <a:lvl5pPr algn="l" rtl="0" eaLnBrk="0" fontAlgn="base" hangingPunct="0">
              <a:spcBef>
                <a:spcPct val="0"/>
              </a:spcBef>
              <a:spcAft>
                <a:spcPct val="0"/>
              </a:spcAft>
              <a:defRPr sz="3200" b="1">
                <a:solidFill>
                  <a:srgbClr val="000000"/>
                </a:solidFill>
                <a:latin typeface="Arial" pitchFamily="34" charset="0"/>
              </a:defRPr>
            </a:lvl5pPr>
            <a:lvl6pPr marL="457200" algn="l" rtl="0" eaLnBrk="0" fontAlgn="base" hangingPunct="0">
              <a:spcBef>
                <a:spcPct val="0"/>
              </a:spcBef>
              <a:spcAft>
                <a:spcPct val="0"/>
              </a:spcAft>
              <a:defRPr sz="3200" b="1">
                <a:solidFill>
                  <a:srgbClr val="000000"/>
                </a:solidFill>
                <a:latin typeface="Arial" pitchFamily="34" charset="0"/>
              </a:defRPr>
            </a:lvl6pPr>
            <a:lvl7pPr marL="914400" algn="l" rtl="0" eaLnBrk="0" fontAlgn="base" hangingPunct="0">
              <a:spcBef>
                <a:spcPct val="0"/>
              </a:spcBef>
              <a:spcAft>
                <a:spcPct val="0"/>
              </a:spcAft>
              <a:defRPr sz="3200" b="1">
                <a:solidFill>
                  <a:srgbClr val="000000"/>
                </a:solidFill>
                <a:latin typeface="Arial" pitchFamily="34" charset="0"/>
              </a:defRPr>
            </a:lvl7pPr>
            <a:lvl8pPr marL="1371600" algn="l" rtl="0" eaLnBrk="0" fontAlgn="base" hangingPunct="0">
              <a:spcBef>
                <a:spcPct val="0"/>
              </a:spcBef>
              <a:spcAft>
                <a:spcPct val="0"/>
              </a:spcAft>
              <a:defRPr sz="3200" b="1">
                <a:solidFill>
                  <a:srgbClr val="000000"/>
                </a:solidFill>
                <a:latin typeface="Arial" pitchFamily="34" charset="0"/>
              </a:defRPr>
            </a:lvl8pPr>
            <a:lvl9pPr marL="1828800" algn="l" rtl="0" eaLnBrk="0" fontAlgn="base" hangingPunct="0">
              <a:spcBef>
                <a:spcPct val="0"/>
              </a:spcBef>
              <a:spcAft>
                <a:spcPct val="0"/>
              </a:spcAft>
              <a:defRPr sz="3200" b="1">
                <a:solidFill>
                  <a:srgbClr val="000000"/>
                </a:solidFill>
                <a:latin typeface="Arial" pitchFamily="34" charset="0"/>
              </a:defRPr>
            </a:lvl9pPr>
          </a:lstStyle>
          <a:p>
            <a:pPr marL="0" marR="0" lvl="0" indent="0" algn="r" defTabSz="914400" rtl="0" eaLnBrk="0" fontAlgn="base" latinLnBrk="0" hangingPunct="0">
              <a:lnSpc>
                <a:spcPct val="85000"/>
              </a:lnSpc>
              <a:spcBef>
                <a:spcPct val="0"/>
              </a:spcBef>
              <a:spcAft>
                <a:spcPct val="0"/>
              </a:spcAft>
              <a:buClrTx/>
              <a:buSzTx/>
              <a:buFontTx/>
              <a:buNone/>
              <a:tabLst/>
              <a:defRPr/>
            </a:pPr>
            <a:r>
              <a:rPr lang="en-US" altLang="zh-TW" sz="1600" kern="0" dirty="0">
                <a:solidFill>
                  <a:srgbClr val="FFC000">
                    <a:lumMod val="60000"/>
                    <a:lumOff val="40000"/>
                  </a:srgbClr>
                </a:solidFill>
                <a:effectLst/>
                <a:latin typeface="Arial" panose="020B0604020202020204" pitchFamily="34" charset="0"/>
                <a:ea typeface="新細明體" panose="02020500000000000000" pitchFamily="18" charset="-120"/>
                <a:cs typeface="Arial" panose="020B0604020202020204" pitchFamily="34" charset="0"/>
              </a:rPr>
              <a:t>GIS Day, 17 Nov </a:t>
            </a:r>
            <a:r>
              <a:rPr kumimoji="0" lang="en-US" altLang="zh-TW" sz="1600" b="1" i="0" u="none" strike="noStrike" kern="0" cap="none" spc="0" normalizeH="0" baseline="0" noProof="0" dirty="0">
                <a:ln>
                  <a:noFill/>
                </a:ln>
                <a:solidFill>
                  <a:srgbClr val="FFC000">
                    <a:lumMod val="60000"/>
                    <a:lumOff val="40000"/>
                  </a:srgbClr>
                </a:solidFill>
                <a:effectLst/>
                <a:uLnTx/>
                <a:uFillTx/>
                <a:latin typeface="Arial" panose="020B0604020202020204" pitchFamily="34" charset="0"/>
                <a:ea typeface="新細明體" panose="02020500000000000000" pitchFamily="18" charset="-120"/>
                <a:cs typeface="Arial" panose="020B0604020202020204" pitchFamily="34" charset="0"/>
              </a:rPr>
              <a:t>2023</a:t>
            </a:r>
          </a:p>
        </p:txBody>
      </p:sp>
      <p:sp>
        <p:nvSpPr>
          <p:cNvPr id="12" name="Rectangle 9">
            <a:extLst>
              <a:ext uri="{FF2B5EF4-FFF2-40B4-BE49-F238E27FC236}">
                <a16:creationId xmlns:a16="http://schemas.microsoft.com/office/drawing/2014/main" id="{1B9A021E-ED27-4AC4-B8B7-B0A457093719}"/>
              </a:ext>
            </a:extLst>
          </p:cNvPr>
          <p:cNvSpPr>
            <a:spLocks noChangeArrowheads="1"/>
          </p:cNvSpPr>
          <p:nvPr/>
        </p:nvSpPr>
        <p:spPr bwMode="auto">
          <a:xfrm>
            <a:off x="3022494" y="2995788"/>
            <a:ext cx="5564384" cy="500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4000"/>
              </a:spcBef>
              <a:buClr>
                <a:schemeClr val="folHlink"/>
              </a:buClr>
              <a:buSzPct val="62000"/>
              <a:buFont typeface="Wingdings" panose="05000000000000000000" pitchFamily="2" charset="2"/>
              <a:buChar char="l"/>
              <a:defRPr sz="2400" b="1">
                <a:solidFill>
                  <a:srgbClr val="000000"/>
                </a:solidFill>
                <a:latin typeface="Arial" panose="020B0604020202020204" pitchFamily="34" charset="0"/>
              </a:defRPr>
            </a:lvl1pPr>
            <a:lvl2pPr marL="742950" indent="-285750">
              <a:spcBef>
                <a:spcPct val="34000"/>
              </a:spcBef>
              <a:buClr>
                <a:schemeClr val="folHlink"/>
              </a:buClr>
              <a:buChar char="–"/>
              <a:defRPr sz="2200">
                <a:solidFill>
                  <a:srgbClr val="000000"/>
                </a:solidFill>
                <a:latin typeface="Arial" panose="020B0604020202020204" pitchFamily="34" charset="0"/>
              </a:defRPr>
            </a:lvl2pPr>
            <a:lvl3pPr marL="1143000" indent="-228600">
              <a:spcBef>
                <a:spcPct val="34000"/>
              </a:spcBef>
              <a:buClr>
                <a:schemeClr val="folHlink"/>
              </a:buClr>
              <a:buChar char="–"/>
              <a:defRPr sz="2200">
                <a:solidFill>
                  <a:srgbClr val="000000"/>
                </a:solidFill>
                <a:latin typeface="Arial" panose="020B0604020202020204" pitchFamily="34" charset="0"/>
              </a:defRPr>
            </a:lvl3pPr>
            <a:lvl4pPr marL="1600200" indent="-228600">
              <a:spcBef>
                <a:spcPct val="20000"/>
              </a:spcBef>
              <a:buClr>
                <a:schemeClr val="folHlink"/>
              </a:buClr>
              <a:buChar char="–"/>
              <a:defRPr sz="2200">
                <a:solidFill>
                  <a:srgbClr val="000000"/>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marR="0" lvl="0" indent="-342900" algn="ctr" defTabSz="914400" rtl="0" eaLnBrk="1" fontAlgn="auto" latinLnBrk="0" hangingPunct="1">
              <a:lnSpc>
                <a:spcPct val="100000"/>
              </a:lnSpc>
              <a:spcBef>
                <a:spcPct val="34000"/>
              </a:spcBef>
              <a:spcAft>
                <a:spcPts val="0"/>
              </a:spcAft>
              <a:buClr>
                <a:srgbClr val="954F72"/>
              </a:buClr>
              <a:buSzPct val="62000"/>
              <a:buFont typeface="Wingdings" panose="05000000000000000000" pitchFamily="2" charset="2"/>
              <a:buNone/>
              <a:tabLst/>
              <a:defRPr/>
            </a:pPr>
            <a:r>
              <a:rPr kumimoji="0" lang="en-US" altLang="zh-TW" sz="2800" b="1" i="0" u="none" strike="noStrike" kern="1200" cap="none" spc="0" normalizeH="0" baseline="0" noProof="0" dirty="0">
                <a:ln>
                  <a:noFill/>
                </a:ln>
                <a:solidFill>
                  <a:srgbClr val="FFFF00"/>
                </a:solidFill>
                <a:effectLst/>
                <a:uLnTx/>
                <a:uFillTx/>
                <a:latin typeface="Arial" panose="020B0604020202020204" pitchFamily="34" charset="0"/>
                <a:ea typeface="新細明體" panose="02020500000000000000" pitchFamily="18" charset="-120"/>
                <a:cs typeface="Arial" panose="020B0604020202020204" pitchFamily="34" charset="0"/>
              </a:rPr>
              <a:t>Sawaid </a:t>
            </a:r>
            <a:r>
              <a:rPr kumimoji="0" lang="en-US" altLang="zh-TW" sz="2800" b="1" i="0" u="none" strike="noStrike" kern="1200" cap="none" spc="0" normalizeH="0" baseline="0" noProof="0" dirty="0" err="1">
                <a:ln>
                  <a:noFill/>
                </a:ln>
                <a:solidFill>
                  <a:srgbClr val="FFFF00"/>
                </a:solidFill>
                <a:effectLst/>
                <a:uLnTx/>
                <a:uFillTx/>
                <a:latin typeface="Arial" panose="020B0604020202020204" pitchFamily="34" charset="0"/>
                <a:ea typeface="新細明體" panose="02020500000000000000" pitchFamily="18" charset="-120"/>
                <a:cs typeface="Arial" panose="020B0604020202020204" pitchFamily="34" charset="0"/>
              </a:rPr>
              <a:t>Abbas,</a:t>
            </a:r>
            <a:r>
              <a:rPr kumimoji="0" lang="en-US" altLang="zh-TW" sz="2800" b="1" i="0" u="none" strike="noStrike" kern="1200" cap="none" spc="0" normalizeH="0" baseline="0" noProof="0" dirty="0">
                <a:ln>
                  <a:noFill/>
                </a:ln>
                <a:solidFill>
                  <a:srgbClr val="FFFF00"/>
                </a:solidFill>
                <a:effectLst/>
                <a:uLnTx/>
                <a:uFillTx/>
                <a:latin typeface="Arial" panose="020B0604020202020204" pitchFamily="34" charset="0"/>
                <a:ea typeface="新細明體" panose="02020500000000000000" pitchFamily="18" charset="-120"/>
                <a:cs typeface="Arial" panose="020B0604020202020204" pitchFamily="34" charset="0"/>
              </a:rPr>
              <a:t> PhD</a:t>
            </a:r>
          </a:p>
          <a:p>
            <a:pPr marL="342900" marR="0" lvl="0" indent="-342900" algn="ctr" defTabSz="914400" rtl="0" eaLnBrk="1" fontAlgn="auto" latinLnBrk="0" hangingPunct="1">
              <a:lnSpc>
                <a:spcPct val="100000"/>
              </a:lnSpc>
              <a:spcBef>
                <a:spcPct val="34000"/>
              </a:spcBef>
              <a:spcAft>
                <a:spcPts val="0"/>
              </a:spcAft>
              <a:buClr>
                <a:srgbClr val="954F72"/>
              </a:buClr>
              <a:buSzPct val="62000"/>
              <a:buFont typeface="Wingdings" panose="05000000000000000000" pitchFamily="2" charset="2"/>
              <a:buNone/>
              <a:tabLst/>
              <a:defRPr/>
            </a:pPr>
            <a:r>
              <a:rPr lang="en-US" altLang="zh-TW" sz="1200" dirty="0">
                <a:solidFill>
                  <a:schemeClr val="accent4">
                    <a:lumMod val="40000"/>
                    <a:lumOff val="60000"/>
                  </a:schemeClr>
                </a:solidFill>
                <a:ea typeface="新細明體" panose="02020500000000000000" pitchFamily="18" charset="-120"/>
                <a:cs typeface="Arial" panose="020B0604020202020204" pitchFamily="34" charset="0"/>
              </a:rPr>
              <a:t>,</a:t>
            </a:r>
            <a:endParaRPr kumimoji="0" lang="en-US" altLang="zh-TW" sz="1200" b="0" i="0" u="none" strike="noStrike" kern="1200" cap="none" spc="0" normalizeH="0" baseline="0" noProof="0" dirty="0">
              <a:ln>
                <a:noFill/>
              </a:ln>
              <a:solidFill>
                <a:schemeClr val="accent4">
                  <a:lumMod val="40000"/>
                  <a:lumOff val="60000"/>
                </a:schemeClr>
              </a:solidFill>
              <a:effectLst/>
              <a:uLnTx/>
              <a:uFillTx/>
              <a:latin typeface="Arial" panose="020B060402020202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198C053-09C0-4DAD-B999-78A21F497036}"/>
              </a:ext>
            </a:extLst>
          </p:cNvPr>
          <p:cNvCxnSpPr>
            <a:cxnSpLocks/>
          </p:cNvCxnSpPr>
          <p:nvPr/>
        </p:nvCxnSpPr>
        <p:spPr>
          <a:xfrm>
            <a:off x="-6134" y="6116728"/>
            <a:ext cx="12192000" cy="39312"/>
          </a:xfrm>
          <a:prstGeom prst="line">
            <a:avLst/>
          </a:prstGeom>
          <a:ln w="57150">
            <a:solidFill>
              <a:srgbClr val="CC3300"/>
            </a:solidFill>
          </a:ln>
        </p:spPr>
        <p:style>
          <a:lnRef idx="3">
            <a:schemeClr val="accent2"/>
          </a:lnRef>
          <a:fillRef idx="0">
            <a:schemeClr val="accent2"/>
          </a:fillRef>
          <a:effectRef idx="2">
            <a:schemeClr val="accent2"/>
          </a:effectRef>
          <a:fontRef idx="minor">
            <a:schemeClr val="tx1"/>
          </a:fontRef>
        </p:style>
      </p:cxnSp>
      <p:pic>
        <p:nvPicPr>
          <p:cNvPr id="10" name="圖片 7">
            <a:extLst>
              <a:ext uri="{FF2B5EF4-FFF2-40B4-BE49-F238E27FC236}">
                <a16:creationId xmlns:a16="http://schemas.microsoft.com/office/drawing/2014/main" id="{0A0FBF5D-68FF-4C3F-8A86-43DCA7A3C824}"/>
              </a:ext>
            </a:extLst>
          </p:cNvPr>
          <p:cNvPicPr>
            <a:picLocks noChangeAspect="1"/>
          </p:cNvPicPr>
          <p:nvPr/>
        </p:nvPicPr>
        <p:blipFill rotWithShape="1">
          <a:blip r:embed="rId3" cstate="print">
            <a:alphaModFix/>
            <a:extLst>
              <a:ext uri="{28A0092B-C50C-407E-A947-70E740481C1C}">
                <a14:useLocalDpi xmlns:a14="http://schemas.microsoft.com/office/drawing/2010/main" val="0"/>
              </a:ext>
            </a:extLst>
          </a:blip>
          <a:srcRect r="70256"/>
          <a:stretch/>
        </p:blipFill>
        <p:spPr>
          <a:xfrm>
            <a:off x="6256454" y="6201017"/>
            <a:ext cx="965881" cy="648000"/>
          </a:xfrm>
          <a:prstGeom prst="rect">
            <a:avLst/>
          </a:prstGeom>
        </p:spPr>
      </p:pic>
      <p:pic>
        <p:nvPicPr>
          <p:cNvPr id="14" name="Picture 13" descr="Chart, radar chart&#10;&#10;Description automatically generated">
            <a:extLst>
              <a:ext uri="{FF2B5EF4-FFF2-40B4-BE49-F238E27FC236}">
                <a16:creationId xmlns:a16="http://schemas.microsoft.com/office/drawing/2014/main" id="{EC196058-A3EB-447D-856A-F6B03CE07736}"/>
              </a:ext>
            </a:extLst>
          </p:cNvPr>
          <p:cNvPicPr>
            <a:picLocks noChangeAspect="1"/>
          </p:cNvPicPr>
          <p:nvPr/>
        </p:nvPicPr>
        <p:blipFill>
          <a:blip r:embed="rId4" cstate="print">
            <a:alphaModFix/>
            <a:extLst>
              <a:ext uri="{28A0092B-C50C-407E-A947-70E740481C1C}">
                <a14:useLocalDpi xmlns:a14="http://schemas.microsoft.com/office/drawing/2010/main" val="0"/>
              </a:ext>
            </a:extLst>
          </a:blip>
          <a:stretch>
            <a:fillRect/>
          </a:stretch>
        </p:blipFill>
        <p:spPr>
          <a:xfrm>
            <a:off x="11635572" y="6201017"/>
            <a:ext cx="518063" cy="648000"/>
          </a:xfrm>
          <a:prstGeom prst="rect">
            <a:avLst/>
          </a:prstGeom>
        </p:spPr>
      </p:pic>
      <p:pic>
        <p:nvPicPr>
          <p:cNvPr id="3" name="Picture 2" descr="Logo, company name&#10;&#10;Description automatically generated">
            <a:extLst>
              <a:ext uri="{FF2B5EF4-FFF2-40B4-BE49-F238E27FC236}">
                <a16:creationId xmlns:a16="http://schemas.microsoft.com/office/drawing/2014/main" id="{8928932A-C345-AF45-CF0D-7579C0FEF1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14451" y="6201017"/>
            <a:ext cx="992955" cy="648000"/>
          </a:xfrm>
          <a:prstGeom prst="rect">
            <a:avLst/>
          </a:prstGeom>
        </p:spPr>
      </p:pic>
      <p:pic>
        <p:nvPicPr>
          <p:cNvPr id="15" name="Picture 12" descr="No photo description available.">
            <a:extLst>
              <a:ext uri="{FF2B5EF4-FFF2-40B4-BE49-F238E27FC236}">
                <a16:creationId xmlns:a16="http://schemas.microsoft.com/office/drawing/2014/main" id="{3287DCDB-EF3A-BD2E-496C-BDE2F302DE89}"/>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4135" r="11117"/>
          <a:stretch/>
        </p:blipFill>
        <p:spPr bwMode="auto">
          <a:xfrm>
            <a:off x="2283681" y="6201017"/>
            <a:ext cx="484367" cy="648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May be an image of text that says 'WWF'">
            <a:extLst>
              <a:ext uri="{FF2B5EF4-FFF2-40B4-BE49-F238E27FC236}">
                <a16:creationId xmlns:a16="http://schemas.microsoft.com/office/drawing/2014/main" id="{CC171445-0936-7B36-3250-333606363E8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0001" t="10590" r="20201" b="5802"/>
          <a:stretch/>
        </p:blipFill>
        <p:spPr bwMode="auto">
          <a:xfrm>
            <a:off x="4288648" y="6201017"/>
            <a:ext cx="463464" cy="648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Logo | Asian Institute of Technology">
            <a:extLst>
              <a:ext uri="{FF2B5EF4-FFF2-40B4-BE49-F238E27FC236}">
                <a16:creationId xmlns:a16="http://schemas.microsoft.com/office/drawing/2014/main" id="{FB84991E-DA8F-66B6-AD75-E94BFF7D1A6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80283" y="6201017"/>
            <a:ext cx="648000" cy="6480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National Institute of Informatics">
            <a:extLst>
              <a:ext uri="{FF2B5EF4-FFF2-40B4-BE49-F238E27FC236}">
                <a16:creationId xmlns:a16="http://schemas.microsoft.com/office/drawing/2014/main" id="{118E005E-AE5D-5617-0829-7D6EBE3D7999}"/>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r="74325" b="98"/>
          <a:stretch/>
        </p:blipFill>
        <p:spPr bwMode="auto">
          <a:xfrm>
            <a:off x="8720788" y="6201017"/>
            <a:ext cx="1065492" cy="648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a:extLst>
              <a:ext uri="{FF2B5EF4-FFF2-40B4-BE49-F238E27FC236}">
                <a16:creationId xmlns:a16="http://schemas.microsoft.com/office/drawing/2014/main" id="{2816825D-D76F-A101-3B5E-7A24067869B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r="80575" b="31254"/>
          <a:stretch/>
        </p:blipFill>
        <p:spPr bwMode="auto">
          <a:xfrm>
            <a:off x="7650506" y="6201017"/>
            <a:ext cx="642111" cy="648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LSGI logo copy.jpg">
            <a:extLst>
              <a:ext uri="{FF2B5EF4-FFF2-40B4-BE49-F238E27FC236}">
                <a16:creationId xmlns:a16="http://schemas.microsoft.com/office/drawing/2014/main" id="{EF51EFC3-90BB-DADC-75DC-5601019985DB}"/>
              </a:ext>
            </a:extLst>
          </p:cNvPr>
          <p:cNvPicPr>
            <a:picLocks noChangeAspect="1"/>
          </p:cNvPicPr>
          <p:nvPr/>
        </p:nvPicPr>
        <p:blipFill rotWithShape="1">
          <a:blip r:embed="rId11" cstate="print"/>
          <a:srcRect r="77519"/>
          <a:stretch/>
        </p:blipFill>
        <p:spPr>
          <a:xfrm>
            <a:off x="3196219" y="6201017"/>
            <a:ext cx="664258" cy="648000"/>
          </a:xfrm>
          <a:prstGeom prst="rect">
            <a:avLst/>
          </a:prstGeom>
        </p:spPr>
      </p:pic>
      <p:pic>
        <p:nvPicPr>
          <p:cNvPr id="1026" name="Picture 2">
            <a:extLst>
              <a:ext uri="{FF2B5EF4-FFF2-40B4-BE49-F238E27FC236}">
                <a16:creationId xmlns:a16="http://schemas.microsoft.com/office/drawing/2014/main" id="{80E03CCC-2DEA-A957-D309-B0AC246F42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7510" y="6201017"/>
            <a:ext cx="648000" cy="64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A40C3270-59F2-9D14-6EDF-7DF80E5C7340}"/>
              </a:ext>
            </a:extLst>
          </p:cNvPr>
          <p:cNvSpPr txBox="1">
            <a:spLocks noChangeArrowheads="1"/>
          </p:cNvSpPr>
          <p:nvPr/>
        </p:nvSpPr>
        <p:spPr bwMode="auto">
          <a:xfrm>
            <a:off x="38365" y="5550214"/>
            <a:ext cx="3334563" cy="500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ctr" rtl="0" eaLnBrk="0" fontAlgn="base" hangingPunct="0">
              <a:lnSpc>
                <a:spcPct val="85000"/>
              </a:lnSpc>
              <a:spcBef>
                <a:spcPct val="0"/>
              </a:spcBef>
              <a:spcAft>
                <a:spcPct val="0"/>
              </a:spcAft>
              <a:defRPr sz="3200" b="1">
                <a:solidFill>
                  <a:srgbClr val="000000"/>
                </a:solidFill>
                <a:effectLst>
                  <a:outerShdw blurRad="38100" dist="38100" dir="2700000" algn="tl">
                    <a:srgbClr val="FFFFFF"/>
                  </a:outerShdw>
                </a:effectLst>
                <a:latin typeface="+mj-lt"/>
                <a:ea typeface="+mj-ea"/>
                <a:cs typeface="+mj-cs"/>
              </a:defRPr>
            </a:lvl1pPr>
            <a:lvl2pPr algn="l" rtl="0" eaLnBrk="0" fontAlgn="base" hangingPunct="0">
              <a:spcBef>
                <a:spcPct val="0"/>
              </a:spcBef>
              <a:spcAft>
                <a:spcPct val="0"/>
              </a:spcAft>
              <a:defRPr sz="3200" b="1">
                <a:solidFill>
                  <a:srgbClr val="000000"/>
                </a:solidFill>
                <a:latin typeface="Arial" pitchFamily="34" charset="0"/>
              </a:defRPr>
            </a:lvl2pPr>
            <a:lvl3pPr algn="l" rtl="0" eaLnBrk="0" fontAlgn="base" hangingPunct="0">
              <a:spcBef>
                <a:spcPct val="0"/>
              </a:spcBef>
              <a:spcAft>
                <a:spcPct val="0"/>
              </a:spcAft>
              <a:defRPr sz="3200" b="1">
                <a:solidFill>
                  <a:srgbClr val="000000"/>
                </a:solidFill>
                <a:latin typeface="Arial" pitchFamily="34" charset="0"/>
              </a:defRPr>
            </a:lvl3pPr>
            <a:lvl4pPr algn="l" rtl="0" eaLnBrk="0" fontAlgn="base" hangingPunct="0">
              <a:spcBef>
                <a:spcPct val="0"/>
              </a:spcBef>
              <a:spcAft>
                <a:spcPct val="0"/>
              </a:spcAft>
              <a:defRPr sz="3200" b="1">
                <a:solidFill>
                  <a:srgbClr val="000000"/>
                </a:solidFill>
                <a:latin typeface="Arial" pitchFamily="34" charset="0"/>
              </a:defRPr>
            </a:lvl4pPr>
            <a:lvl5pPr algn="l" rtl="0" eaLnBrk="0" fontAlgn="base" hangingPunct="0">
              <a:spcBef>
                <a:spcPct val="0"/>
              </a:spcBef>
              <a:spcAft>
                <a:spcPct val="0"/>
              </a:spcAft>
              <a:defRPr sz="3200" b="1">
                <a:solidFill>
                  <a:srgbClr val="000000"/>
                </a:solidFill>
                <a:latin typeface="Arial" pitchFamily="34" charset="0"/>
              </a:defRPr>
            </a:lvl5pPr>
            <a:lvl6pPr marL="457200" algn="l" rtl="0" eaLnBrk="0" fontAlgn="base" hangingPunct="0">
              <a:spcBef>
                <a:spcPct val="0"/>
              </a:spcBef>
              <a:spcAft>
                <a:spcPct val="0"/>
              </a:spcAft>
              <a:defRPr sz="3200" b="1">
                <a:solidFill>
                  <a:srgbClr val="000000"/>
                </a:solidFill>
                <a:latin typeface="Arial" pitchFamily="34" charset="0"/>
              </a:defRPr>
            </a:lvl6pPr>
            <a:lvl7pPr marL="914400" algn="l" rtl="0" eaLnBrk="0" fontAlgn="base" hangingPunct="0">
              <a:spcBef>
                <a:spcPct val="0"/>
              </a:spcBef>
              <a:spcAft>
                <a:spcPct val="0"/>
              </a:spcAft>
              <a:defRPr sz="3200" b="1">
                <a:solidFill>
                  <a:srgbClr val="000000"/>
                </a:solidFill>
                <a:latin typeface="Arial" pitchFamily="34" charset="0"/>
              </a:defRPr>
            </a:lvl7pPr>
            <a:lvl8pPr marL="1371600" algn="l" rtl="0" eaLnBrk="0" fontAlgn="base" hangingPunct="0">
              <a:spcBef>
                <a:spcPct val="0"/>
              </a:spcBef>
              <a:spcAft>
                <a:spcPct val="0"/>
              </a:spcAft>
              <a:defRPr sz="3200" b="1">
                <a:solidFill>
                  <a:srgbClr val="000000"/>
                </a:solidFill>
                <a:latin typeface="Arial" pitchFamily="34" charset="0"/>
              </a:defRPr>
            </a:lvl8pPr>
            <a:lvl9pPr marL="1828800" algn="l" rtl="0" eaLnBrk="0" fontAlgn="base" hangingPunct="0">
              <a:spcBef>
                <a:spcPct val="0"/>
              </a:spcBef>
              <a:spcAft>
                <a:spcPct val="0"/>
              </a:spcAft>
              <a:defRPr sz="3200" b="1">
                <a:solidFill>
                  <a:srgbClr val="000000"/>
                </a:solidFill>
                <a:latin typeface="Arial" pitchFamily="34" charset="0"/>
              </a:defRPr>
            </a:lvl9pPr>
          </a:lstStyle>
          <a:p>
            <a:pPr marL="0" marR="0" lvl="0" indent="0" algn="l" defTabSz="914400" rtl="0" eaLnBrk="0" fontAlgn="base" latinLnBrk="0" hangingPunct="0">
              <a:lnSpc>
                <a:spcPct val="85000"/>
              </a:lnSpc>
              <a:spcBef>
                <a:spcPct val="0"/>
              </a:spcBef>
              <a:spcAft>
                <a:spcPct val="0"/>
              </a:spcAft>
              <a:buClrTx/>
              <a:buSzTx/>
              <a:buFontTx/>
              <a:buNone/>
              <a:tabLst/>
              <a:defRPr/>
            </a:pPr>
            <a:r>
              <a:rPr lang="en-US" altLang="zh-TW" sz="1600" b="0" kern="0" dirty="0">
                <a:solidFill>
                  <a:schemeClr val="accent4">
                    <a:lumMod val="60000"/>
                    <a:lumOff val="40000"/>
                  </a:schemeClr>
                </a:solidFill>
                <a:effectLst/>
                <a:latin typeface="Arial" panose="020B0604020202020204" pitchFamily="34" charset="0"/>
                <a:ea typeface="新細明體" panose="02020500000000000000" pitchFamily="18" charset="-120"/>
                <a:cs typeface="Arial" panose="020B0604020202020204" pitchFamily="34" charset="0"/>
              </a:rPr>
              <a:t>sawaid.abbas@connect.polyu.hk</a:t>
            </a:r>
          </a:p>
          <a:p>
            <a:pPr marL="0" marR="0" lvl="0" indent="0" algn="l" defTabSz="914400" rtl="0" eaLnBrk="0" fontAlgn="base" latinLnBrk="0" hangingPunct="0">
              <a:lnSpc>
                <a:spcPct val="85000"/>
              </a:lnSpc>
              <a:spcBef>
                <a:spcPct val="0"/>
              </a:spcBef>
              <a:spcAft>
                <a:spcPct val="0"/>
              </a:spcAft>
              <a:buClrTx/>
              <a:buSzTx/>
              <a:buFontTx/>
              <a:buNone/>
              <a:tabLst/>
              <a:defRPr/>
            </a:pPr>
            <a:r>
              <a:rPr kumimoji="0" lang="en-US" altLang="zh-TW" sz="1600" b="0" strike="noStrike" kern="0" cap="none" spc="0" normalizeH="0" baseline="0" noProof="0" dirty="0" err="1">
                <a:ln>
                  <a:noFill/>
                </a:ln>
                <a:solidFill>
                  <a:schemeClr val="accent4">
                    <a:lumMod val="60000"/>
                    <a:lumOff val="40000"/>
                  </a:schemeClr>
                </a:solidFill>
                <a:effectLst/>
                <a:uLnTx/>
                <a:uFillTx/>
                <a:latin typeface="Arial" panose="020B0604020202020204" pitchFamily="34" charset="0"/>
                <a:ea typeface="新細明體" panose="02020500000000000000" pitchFamily="18" charset="-120"/>
                <a:cs typeface="Arial" panose="020B0604020202020204" pitchFamily="34" charset="0"/>
              </a:rPr>
              <a:t>sawaid.gis</a:t>
            </a:r>
            <a:r>
              <a:rPr lang="en-US" altLang="zh-TW" sz="1600" b="0" kern="0" dirty="0">
                <a:solidFill>
                  <a:schemeClr val="accent4">
                    <a:lumMod val="60000"/>
                    <a:lumOff val="40000"/>
                  </a:schemeClr>
                </a:solidFill>
                <a:effectLst/>
                <a:latin typeface="Arial" panose="020B0604020202020204" pitchFamily="34" charset="0"/>
                <a:ea typeface="新細明體" panose="02020500000000000000" pitchFamily="18" charset="-120"/>
                <a:cs typeface="Arial" panose="020B0604020202020204" pitchFamily="34" charset="0"/>
              </a:rPr>
              <a:t>@pu.edu.pk</a:t>
            </a:r>
            <a:endParaRPr kumimoji="0" lang="en-US" altLang="zh-TW" sz="1600" b="0" strike="noStrike" kern="0" cap="none" spc="0" normalizeH="0" baseline="0" noProof="0" dirty="0">
              <a:ln>
                <a:noFill/>
              </a:ln>
              <a:solidFill>
                <a:schemeClr val="accent4">
                  <a:lumMod val="60000"/>
                  <a:lumOff val="40000"/>
                </a:schemeClr>
              </a:solidFill>
              <a:effectLst/>
              <a:uLnTx/>
              <a:uFillTx/>
              <a:latin typeface="Arial" panose="020B0604020202020204" pitchFamily="34" charset="0"/>
              <a:ea typeface="新細明體" panose="02020500000000000000" pitchFamily="18" charset="-120"/>
              <a:cs typeface="Arial" panose="020B0604020202020204" pitchFamily="34" charset="0"/>
            </a:endParaRPr>
          </a:p>
        </p:txBody>
      </p:sp>
      <p:pic>
        <p:nvPicPr>
          <p:cNvPr id="6" name="Picture 5">
            <a:extLst>
              <a:ext uri="{FF2B5EF4-FFF2-40B4-BE49-F238E27FC236}">
                <a16:creationId xmlns:a16="http://schemas.microsoft.com/office/drawing/2014/main" id="{7F7FC142-2A0F-7970-5300-7DB603090895}"/>
              </a:ext>
            </a:extLst>
          </p:cNvPr>
          <p:cNvPicPr>
            <a:picLocks noChangeAspect="1"/>
          </p:cNvPicPr>
          <p:nvPr/>
        </p:nvPicPr>
        <p:blipFill rotWithShape="1">
          <a:blip r:embed="rId13"/>
          <a:srcRect l="2134" t="20267" r="55068" b="8953"/>
          <a:stretch/>
        </p:blipFill>
        <p:spPr>
          <a:xfrm>
            <a:off x="82767" y="6201017"/>
            <a:ext cx="696572" cy="648000"/>
          </a:xfrm>
          <a:prstGeom prst="rect">
            <a:avLst/>
          </a:prstGeom>
        </p:spPr>
      </p:pic>
    </p:spTree>
    <p:extLst>
      <p:ext uri="{BB962C8B-B14F-4D97-AF65-F5344CB8AC3E}">
        <p14:creationId xmlns:p14="http://schemas.microsoft.com/office/powerpoint/2010/main" val="4261338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16F0-AC98-6ECD-ECCA-D5ACBC01D029}"/>
              </a:ext>
            </a:extLst>
          </p:cNvPr>
          <p:cNvSpPr>
            <a:spLocks noGrp="1"/>
          </p:cNvSpPr>
          <p:nvPr>
            <p:ph type="title"/>
          </p:nvPr>
        </p:nvSpPr>
        <p:spPr/>
        <p:txBody>
          <a:bodyPr vert="horz" lIns="91440" tIns="45720" rIns="91440" bIns="45720" rtlCol="0" anchor="ctr">
            <a:normAutofit/>
          </a:bodyPr>
          <a:lstStyle/>
          <a:p>
            <a:r>
              <a:rPr lang="en-US" b="1" dirty="0">
                <a:solidFill>
                  <a:srgbClr val="C00000"/>
                </a:solidFill>
                <a:latin typeface="Times New Roman" panose="02020603050405020304" pitchFamily="18" charset="0"/>
                <a:cs typeface="Times New Roman" panose="02020603050405020304" pitchFamily="18" charset="0"/>
              </a:rPr>
              <a:t>PhD </a:t>
            </a:r>
            <a:r>
              <a:rPr lang="en-US" b="1">
                <a:solidFill>
                  <a:srgbClr val="C00000"/>
                </a:solidFill>
                <a:latin typeface="Times New Roman" panose="02020603050405020304" pitchFamily="18" charset="0"/>
                <a:cs typeface="Times New Roman" panose="02020603050405020304" pitchFamily="18" charset="0"/>
              </a:rPr>
              <a:t>Program </a:t>
            </a:r>
            <a:endParaRPr lang="en-GB"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764F5B-B17E-121B-A866-1AF8059BA5DB}"/>
              </a:ext>
            </a:extLst>
          </p:cNvPr>
          <p:cNvSpPr>
            <a:spLocks noGrp="1"/>
          </p:cNvSpPr>
          <p:nvPr>
            <p:ph idx="1"/>
          </p:nvPr>
        </p:nvSpPr>
        <p:spPr>
          <a:xfrm>
            <a:off x="838200" y="1690688"/>
            <a:ext cx="10515600" cy="4351338"/>
          </a:xfrm>
        </p:spPr>
        <p:txBody>
          <a:bodyPr>
            <a:normAutofit fontScale="92500" lnSpcReduction="10000"/>
          </a:bodyPr>
          <a:lstStyle/>
          <a:p>
            <a:pPr>
              <a:lnSpc>
                <a:spcPct val="200000"/>
              </a:lnSpc>
            </a:pPr>
            <a:r>
              <a:rPr lang="en-US" dirty="0">
                <a:latin typeface="Times New Roman" panose="02020603050405020304" pitchFamily="18" charset="0"/>
                <a:cs typeface="Times New Roman" panose="02020603050405020304" pitchFamily="18" charset="0"/>
              </a:rPr>
              <a:t>Aiming to launch PhD program in September 2023</a:t>
            </a:r>
          </a:p>
          <a:p>
            <a:pPr>
              <a:lnSpc>
                <a:spcPct val="200000"/>
              </a:lnSpc>
            </a:pPr>
            <a:r>
              <a:rPr lang="en-US" dirty="0">
                <a:latin typeface="Times New Roman" panose="02020603050405020304" pitchFamily="18" charset="0"/>
                <a:cs typeface="Times New Roman" panose="02020603050405020304" pitchFamily="18" charset="0"/>
              </a:rPr>
              <a:t>PhD in Geospatial Science (Remote Sensing and GIS)</a:t>
            </a:r>
          </a:p>
          <a:p>
            <a:pPr>
              <a:lnSpc>
                <a:spcPct val="200000"/>
              </a:lnSpc>
            </a:pPr>
            <a:r>
              <a:rPr lang="en-US" dirty="0">
                <a:latin typeface="Times New Roman" panose="02020603050405020304" pitchFamily="18" charset="0"/>
                <a:cs typeface="Times New Roman" panose="02020603050405020304" pitchFamily="18" charset="0"/>
              </a:rPr>
              <a:t>15 PhD Candidates </a:t>
            </a:r>
          </a:p>
          <a:p>
            <a:pPr>
              <a:lnSpc>
                <a:spcPct val="200000"/>
              </a:lnSpc>
            </a:pPr>
            <a:r>
              <a:rPr lang="en-US" dirty="0">
                <a:latin typeface="Times New Roman" panose="02020603050405020304" pitchFamily="18" charset="0"/>
                <a:cs typeface="Times New Roman" panose="02020603050405020304" pitchFamily="18" charset="0"/>
              </a:rPr>
              <a:t>Designing Course </a:t>
            </a:r>
          </a:p>
          <a:p>
            <a:pPr>
              <a:lnSpc>
                <a:spcPct val="200000"/>
              </a:lnSpc>
            </a:pPr>
            <a:r>
              <a:rPr lang="en-US" dirty="0">
                <a:latin typeface="Times New Roman" panose="02020603050405020304" pitchFamily="18" charset="0"/>
                <a:cs typeface="Times New Roman" panose="02020603050405020304" pitchFamily="18" charset="0"/>
              </a:rPr>
              <a:t>Consultative Meeting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261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411D937-17CB-EECC-BD2C-3F1B663A1B97}"/>
              </a:ext>
            </a:extLst>
          </p:cNvPr>
          <p:cNvSpPr>
            <a:spLocks noGrp="1"/>
          </p:cNvSpPr>
          <p:nvPr>
            <p:ph type="title"/>
          </p:nvPr>
        </p:nvSpPr>
        <p:spPr>
          <a:xfrm>
            <a:off x="609600" y="518160"/>
            <a:ext cx="11168219"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Smart Sensing for Climate and Development </a:t>
            </a:r>
            <a:endParaRPr lang="en-GB" b="1" dirty="0">
              <a:solidFill>
                <a:srgbClr val="C00000"/>
              </a:solidFill>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1ACE1E20-D224-47AA-0FFD-C94FD720A092}"/>
              </a:ext>
            </a:extLst>
          </p:cNvPr>
          <p:cNvPicPr>
            <a:picLocks noChangeAspect="1"/>
          </p:cNvPicPr>
          <p:nvPr/>
        </p:nvPicPr>
        <p:blipFill rotWithShape="1">
          <a:blip r:embed="rId2">
            <a:alphaModFix amt="20000"/>
          </a:blip>
          <a:srcRect l="2134" t="20267" r="55068" b="8953"/>
          <a:stretch/>
        </p:blipFill>
        <p:spPr>
          <a:xfrm>
            <a:off x="3527413" y="1697788"/>
            <a:ext cx="4793416" cy="4459171"/>
          </a:xfrm>
          <a:prstGeom prst="rect">
            <a:avLst/>
          </a:prstGeom>
        </p:spPr>
      </p:pic>
      <p:sp>
        <p:nvSpPr>
          <p:cNvPr id="29" name="TextBox 28">
            <a:extLst>
              <a:ext uri="{FF2B5EF4-FFF2-40B4-BE49-F238E27FC236}">
                <a16:creationId xmlns:a16="http://schemas.microsoft.com/office/drawing/2014/main" id="{80173898-6032-17AD-DFC5-21817E2CCF6E}"/>
              </a:ext>
            </a:extLst>
          </p:cNvPr>
          <p:cNvSpPr txBox="1"/>
          <p:nvPr/>
        </p:nvSpPr>
        <p:spPr>
          <a:xfrm>
            <a:off x="1415782" y="2528669"/>
            <a:ext cx="9016678" cy="2968057"/>
          </a:xfrm>
          <a:prstGeom prst="rect">
            <a:avLst/>
          </a:prstGeom>
          <a:noFill/>
        </p:spPr>
        <p:txBody>
          <a:bodyPr wrap="square">
            <a:spAutoFit/>
          </a:bodyPr>
          <a:lstStyle/>
          <a:p>
            <a:pPr algn="ctr">
              <a:lnSpc>
                <a:spcPct val="150000"/>
              </a:lnSpc>
            </a:pPr>
            <a:r>
              <a:rPr lang="en-US" sz="3200" b="1" dirty="0">
                <a:latin typeface="Times New Roman" panose="02020603050405020304" pitchFamily="18" charset="0"/>
                <a:ea typeface="Calibri" panose="020F0502020204030204" pitchFamily="34" charset="0"/>
              </a:rPr>
              <a:t>“esta</a:t>
            </a:r>
            <a:r>
              <a:rPr lang="en-US" sz="3200" b="1" dirty="0">
                <a:effectLst/>
                <a:latin typeface="Times New Roman" panose="02020603050405020304" pitchFamily="18" charset="0"/>
                <a:ea typeface="Calibri" panose="020F0502020204030204" pitchFamily="34" charset="0"/>
              </a:rPr>
              <a:t>blis</a:t>
            </a:r>
            <a:r>
              <a:rPr lang="en-US" sz="3200" b="1" dirty="0">
                <a:latin typeface="Times New Roman" panose="02020603050405020304" pitchFamily="18" charset="0"/>
                <a:ea typeface="Calibri" panose="020F0502020204030204" pitchFamily="34" charset="0"/>
              </a:rPr>
              <a:t>h a </a:t>
            </a:r>
            <a:r>
              <a:rPr lang="en-US" sz="3200" b="1" dirty="0">
                <a:solidFill>
                  <a:schemeClr val="accent4">
                    <a:lumMod val="75000"/>
                  </a:schemeClr>
                </a:solidFill>
                <a:latin typeface="Times New Roman" panose="02020603050405020304" pitchFamily="18" charset="0"/>
                <a:ea typeface="Calibri" panose="020F0502020204030204" pitchFamily="34" charset="0"/>
              </a:rPr>
              <a:t>group of </a:t>
            </a:r>
            <a:r>
              <a:rPr lang="en-US" sz="3200" b="1" dirty="0">
                <a:solidFill>
                  <a:schemeClr val="accent4">
                    <a:lumMod val="75000"/>
                  </a:schemeClr>
                </a:solidFill>
                <a:effectLst/>
                <a:latin typeface="Times New Roman" panose="02020603050405020304" pitchFamily="18" charset="0"/>
                <a:ea typeface="Calibri" panose="020F0502020204030204" pitchFamily="34" charset="0"/>
              </a:rPr>
              <a:t>researchers </a:t>
            </a:r>
            <a:r>
              <a:rPr lang="en-US" sz="3200" b="1" dirty="0">
                <a:effectLst/>
                <a:latin typeface="Times New Roman" panose="02020603050405020304" pitchFamily="18" charset="0"/>
                <a:ea typeface="Calibri" panose="020F0502020204030204" pitchFamily="34" charset="0"/>
              </a:rPr>
              <a:t>to strengthen quality of research by </a:t>
            </a:r>
            <a:r>
              <a:rPr lang="en-GB" sz="3200" b="1" dirty="0">
                <a:effectLst/>
                <a:latin typeface="Times New Roman" panose="02020603050405020304" pitchFamily="18" charset="0"/>
                <a:ea typeface="Calibri" panose="020F0502020204030204" pitchFamily="34" charset="0"/>
              </a:rPr>
              <a:t>integrating </a:t>
            </a:r>
            <a:r>
              <a:rPr lang="en-GB" sz="3200" b="1" dirty="0">
                <a:solidFill>
                  <a:srgbClr val="0070C0"/>
                </a:solidFill>
                <a:effectLst/>
                <a:latin typeface="Times New Roman" panose="02020603050405020304" pitchFamily="18" charset="0"/>
                <a:ea typeface="Calibri" panose="020F0502020204030204" pitchFamily="34" charset="0"/>
              </a:rPr>
              <a:t>cutting-edge geospatial technologie</a:t>
            </a:r>
            <a:r>
              <a:rPr lang="en-GB" sz="3200" b="1" dirty="0">
                <a:solidFill>
                  <a:srgbClr val="0070C0"/>
                </a:solidFill>
                <a:latin typeface="Times New Roman" panose="02020603050405020304" pitchFamily="18" charset="0"/>
                <a:ea typeface="Calibri" panose="020F0502020204030204" pitchFamily="34" charset="0"/>
              </a:rPr>
              <a:t>s</a:t>
            </a:r>
            <a:r>
              <a:rPr lang="en-GB" sz="3200" b="1" dirty="0">
                <a:latin typeface="Times New Roman" panose="02020603050405020304" pitchFamily="18" charset="0"/>
                <a:ea typeface="Calibri" panose="020F0502020204030204" pitchFamily="34" charset="0"/>
              </a:rPr>
              <a:t> and data </a:t>
            </a:r>
            <a:r>
              <a:rPr lang="en-GB" sz="3200" b="1" dirty="0">
                <a:effectLst/>
                <a:latin typeface="Times New Roman" panose="02020603050405020304" pitchFamily="18" charset="0"/>
                <a:ea typeface="Calibri" panose="020F0502020204030204" pitchFamily="34" charset="0"/>
              </a:rPr>
              <a:t>for </a:t>
            </a:r>
            <a:r>
              <a:rPr lang="en-GB" sz="3200" b="1" dirty="0">
                <a:solidFill>
                  <a:srgbClr val="00B050"/>
                </a:solidFill>
                <a:effectLst/>
                <a:latin typeface="Times New Roman" panose="02020603050405020304" pitchFamily="18" charset="0"/>
                <a:ea typeface="Calibri" panose="020F0502020204030204" pitchFamily="34" charset="0"/>
              </a:rPr>
              <a:t>smart and sustainable development</a:t>
            </a:r>
            <a:r>
              <a:rPr lang="en-GB" sz="3200" b="1" dirty="0">
                <a:latin typeface="Times New Roman" panose="02020603050405020304" pitchFamily="18" charset="0"/>
                <a:ea typeface="Calibri" panose="020F0502020204030204" pitchFamily="34" charset="0"/>
              </a:rPr>
              <a:t>”</a:t>
            </a:r>
            <a:endParaRPr lang="en-GB" sz="3200" b="1" dirty="0"/>
          </a:p>
        </p:txBody>
      </p:sp>
      <p:pic>
        <p:nvPicPr>
          <p:cNvPr id="56" name="Picture 55">
            <a:extLst>
              <a:ext uri="{FF2B5EF4-FFF2-40B4-BE49-F238E27FC236}">
                <a16:creationId xmlns:a16="http://schemas.microsoft.com/office/drawing/2014/main" id="{45921098-3F40-65E9-7849-13D496DF33CA}"/>
              </a:ext>
            </a:extLst>
          </p:cNvPr>
          <p:cNvPicPr>
            <a:picLocks noChangeAspect="1"/>
          </p:cNvPicPr>
          <p:nvPr/>
        </p:nvPicPr>
        <p:blipFill rotWithShape="1">
          <a:blip r:embed="rId2"/>
          <a:srcRect l="2134" t="20267" r="55068" b="8953"/>
          <a:stretch/>
        </p:blipFill>
        <p:spPr>
          <a:xfrm>
            <a:off x="101600" y="68253"/>
            <a:ext cx="696572" cy="648000"/>
          </a:xfrm>
          <a:prstGeom prst="rect">
            <a:avLst/>
          </a:prstGeom>
        </p:spPr>
      </p:pic>
    </p:spTree>
    <p:extLst>
      <p:ext uri="{BB962C8B-B14F-4D97-AF65-F5344CB8AC3E}">
        <p14:creationId xmlns:p14="http://schemas.microsoft.com/office/powerpoint/2010/main" val="3758337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ntent Placeholder 2">
            <a:extLst>
              <a:ext uri="{FF2B5EF4-FFF2-40B4-BE49-F238E27FC236}">
                <a16:creationId xmlns:a16="http://schemas.microsoft.com/office/drawing/2014/main" id="{4CB3B5A4-4C5F-36AD-DE88-009FDD00CC02}"/>
              </a:ext>
            </a:extLst>
          </p:cNvPr>
          <p:cNvSpPr>
            <a:spLocks noGrp="1"/>
          </p:cNvSpPr>
          <p:nvPr>
            <p:ph idx="1"/>
          </p:nvPr>
        </p:nvSpPr>
        <p:spPr>
          <a:xfrm>
            <a:off x="2306934" y="1843723"/>
            <a:ext cx="8422025" cy="4349200"/>
          </a:xfrm>
        </p:spPr>
        <p:txBody>
          <a:bodyPr>
            <a:normAutofit fontScale="92500" lnSpcReduction="10000"/>
          </a:bodyPr>
          <a:lstStyle/>
          <a:p>
            <a:pPr>
              <a:lnSpc>
                <a:spcPct val="200000"/>
              </a:lnSpc>
            </a:pPr>
            <a:r>
              <a:rPr lang="en-US" dirty="0">
                <a:latin typeface="Times New Roman" panose="02020603050405020304" pitchFamily="18" charset="0"/>
                <a:cs typeface="Times New Roman" panose="02020603050405020304" pitchFamily="18" charset="0"/>
              </a:rPr>
              <a:t>Platform for Students</a:t>
            </a:r>
          </a:p>
          <a:p>
            <a:pPr>
              <a:lnSpc>
                <a:spcPct val="200000"/>
              </a:lnSpc>
            </a:pPr>
            <a:r>
              <a:rPr lang="en-US" dirty="0">
                <a:latin typeface="Times New Roman" panose="02020603050405020304" pitchFamily="18" charset="0"/>
                <a:cs typeface="Times New Roman" panose="02020603050405020304" pitchFamily="18" charset="0"/>
              </a:rPr>
              <a:t>Transform Learning into Actions</a:t>
            </a:r>
          </a:p>
          <a:p>
            <a:pPr>
              <a:lnSpc>
                <a:spcPct val="200000"/>
              </a:lnSpc>
            </a:pPr>
            <a:r>
              <a:rPr lang="en-US" dirty="0">
                <a:latin typeface="Times New Roman" panose="02020603050405020304" pitchFamily="18" charset="0"/>
                <a:cs typeface="Times New Roman" panose="02020603050405020304" pitchFamily="18" charset="0"/>
              </a:rPr>
              <a:t>Apply Existing Skills for Research and Development </a:t>
            </a:r>
          </a:p>
          <a:p>
            <a:pPr>
              <a:lnSpc>
                <a:spcPct val="200000"/>
              </a:lnSpc>
            </a:pPr>
            <a:r>
              <a:rPr lang="en-US" dirty="0">
                <a:latin typeface="Times New Roman" panose="02020603050405020304" pitchFamily="18" charset="0"/>
                <a:cs typeface="Times New Roman" panose="02020603050405020304" pitchFamily="18" charset="0"/>
              </a:rPr>
              <a:t>Explore New Horizons for Contemporary Skills </a:t>
            </a:r>
          </a:p>
          <a:p>
            <a:pPr>
              <a:lnSpc>
                <a:spcPct val="200000"/>
              </a:lnSpc>
            </a:pPr>
            <a:r>
              <a:rPr lang="en-US" dirty="0">
                <a:latin typeface="Times New Roman" panose="02020603050405020304" pitchFamily="18" charset="0"/>
                <a:cs typeface="Times New Roman" panose="02020603050405020304" pitchFamily="18" charset="0"/>
              </a:rPr>
              <a:t>Bridge Gap between Academia and Industry </a:t>
            </a:r>
          </a:p>
        </p:txBody>
      </p:sp>
      <p:pic>
        <p:nvPicPr>
          <p:cNvPr id="27" name="Picture 26">
            <a:extLst>
              <a:ext uri="{FF2B5EF4-FFF2-40B4-BE49-F238E27FC236}">
                <a16:creationId xmlns:a16="http://schemas.microsoft.com/office/drawing/2014/main" id="{1ACE1E20-D224-47AA-0FFD-C94FD720A092}"/>
              </a:ext>
            </a:extLst>
          </p:cNvPr>
          <p:cNvPicPr>
            <a:picLocks noChangeAspect="1"/>
          </p:cNvPicPr>
          <p:nvPr/>
        </p:nvPicPr>
        <p:blipFill rotWithShape="1">
          <a:blip r:embed="rId2"/>
          <a:srcRect l="2134" t="20267" r="55068" b="8953"/>
          <a:stretch/>
        </p:blipFill>
        <p:spPr>
          <a:xfrm>
            <a:off x="101600" y="68253"/>
            <a:ext cx="696572" cy="648000"/>
          </a:xfrm>
          <a:prstGeom prst="rect">
            <a:avLst/>
          </a:prstGeom>
        </p:spPr>
      </p:pic>
      <p:sp>
        <p:nvSpPr>
          <p:cNvPr id="6" name="Title 1">
            <a:extLst>
              <a:ext uri="{FF2B5EF4-FFF2-40B4-BE49-F238E27FC236}">
                <a16:creationId xmlns:a16="http://schemas.microsoft.com/office/drawing/2014/main" id="{64405547-E6BE-B48F-0A8A-41F9CF4BD46B}"/>
              </a:ext>
            </a:extLst>
          </p:cNvPr>
          <p:cNvSpPr>
            <a:spLocks noGrp="1"/>
          </p:cNvSpPr>
          <p:nvPr>
            <p:ph type="title"/>
          </p:nvPr>
        </p:nvSpPr>
        <p:spPr>
          <a:xfrm>
            <a:off x="609600" y="518160"/>
            <a:ext cx="11168219"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Smart Sensing for Climate and Development </a:t>
            </a:r>
            <a:endParaRPr lang="en-GB"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0501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9A53E83-D314-096D-C398-41FD6FD48A3B}"/>
              </a:ext>
            </a:extLst>
          </p:cNvPr>
          <p:cNvPicPr>
            <a:picLocks noChangeAspect="1"/>
          </p:cNvPicPr>
          <p:nvPr/>
        </p:nvPicPr>
        <p:blipFill rotWithShape="1">
          <a:blip r:embed="rId2">
            <a:alphaModFix amt="20000"/>
          </a:blip>
          <a:srcRect l="2134" t="20267" r="55068" b="8953"/>
          <a:stretch/>
        </p:blipFill>
        <p:spPr>
          <a:xfrm>
            <a:off x="4332244" y="1880669"/>
            <a:ext cx="4793416" cy="4459171"/>
          </a:xfrm>
          <a:prstGeom prst="rect">
            <a:avLst/>
          </a:prstGeom>
        </p:spPr>
      </p:pic>
      <p:sp>
        <p:nvSpPr>
          <p:cNvPr id="8" name="Hexagon 2">
            <a:extLst>
              <a:ext uri="{FF2B5EF4-FFF2-40B4-BE49-F238E27FC236}">
                <a16:creationId xmlns:a16="http://schemas.microsoft.com/office/drawing/2014/main" id="{D61739AD-31A4-392F-082A-FD997C159820}"/>
              </a:ext>
            </a:extLst>
          </p:cNvPr>
          <p:cNvSpPr>
            <a:spLocks noChangeAspect="1"/>
          </p:cNvSpPr>
          <p:nvPr/>
        </p:nvSpPr>
        <p:spPr>
          <a:xfrm>
            <a:off x="4921386" y="4015435"/>
            <a:ext cx="1368000" cy="1179306"/>
          </a:xfrm>
          <a:prstGeom prst="hexagon">
            <a:avLst/>
          </a:prstGeom>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sp>
        <p:nvSpPr>
          <p:cNvPr id="24" name="Hexagon 2">
            <a:extLst>
              <a:ext uri="{FF2B5EF4-FFF2-40B4-BE49-F238E27FC236}">
                <a16:creationId xmlns:a16="http://schemas.microsoft.com/office/drawing/2014/main" id="{004D7B98-07EC-2177-D1D1-40974690A817}"/>
              </a:ext>
            </a:extLst>
          </p:cNvPr>
          <p:cNvSpPr>
            <a:spLocks noChangeAspect="1"/>
          </p:cNvSpPr>
          <p:nvPr/>
        </p:nvSpPr>
        <p:spPr>
          <a:xfrm>
            <a:off x="7177058" y="2828239"/>
            <a:ext cx="1368000" cy="1179306"/>
          </a:xfrm>
          <a:prstGeom prst="hexagon">
            <a:avLst/>
          </a:prstGeom>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pic>
        <p:nvPicPr>
          <p:cNvPr id="27" name="Picture 26">
            <a:extLst>
              <a:ext uri="{FF2B5EF4-FFF2-40B4-BE49-F238E27FC236}">
                <a16:creationId xmlns:a16="http://schemas.microsoft.com/office/drawing/2014/main" id="{1ACE1E20-D224-47AA-0FFD-C94FD720A092}"/>
              </a:ext>
            </a:extLst>
          </p:cNvPr>
          <p:cNvPicPr>
            <a:picLocks noChangeAspect="1"/>
          </p:cNvPicPr>
          <p:nvPr/>
        </p:nvPicPr>
        <p:blipFill rotWithShape="1">
          <a:blip r:embed="rId2"/>
          <a:srcRect l="2134" t="20267" r="55068" b="8953"/>
          <a:stretch/>
        </p:blipFill>
        <p:spPr>
          <a:xfrm>
            <a:off x="65895" y="44147"/>
            <a:ext cx="696572" cy="648000"/>
          </a:xfrm>
          <a:prstGeom prst="rect">
            <a:avLst/>
          </a:prstGeom>
        </p:spPr>
      </p:pic>
      <p:sp>
        <p:nvSpPr>
          <p:cNvPr id="30" name="Hexagon 2">
            <a:extLst>
              <a:ext uri="{FF2B5EF4-FFF2-40B4-BE49-F238E27FC236}">
                <a16:creationId xmlns:a16="http://schemas.microsoft.com/office/drawing/2014/main" id="{2FE6ABB2-71E1-D1AE-C6B7-B77967A0CCBD}"/>
              </a:ext>
            </a:extLst>
          </p:cNvPr>
          <p:cNvSpPr>
            <a:spLocks noChangeAspect="1"/>
          </p:cNvSpPr>
          <p:nvPr/>
        </p:nvSpPr>
        <p:spPr>
          <a:xfrm>
            <a:off x="6044953" y="4655083"/>
            <a:ext cx="1368000" cy="1179306"/>
          </a:xfrm>
          <a:prstGeom prst="hexagon">
            <a:avLst/>
          </a:prstGeom>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sp>
        <p:nvSpPr>
          <p:cNvPr id="32" name="Hexagon 2">
            <a:extLst>
              <a:ext uri="{FF2B5EF4-FFF2-40B4-BE49-F238E27FC236}">
                <a16:creationId xmlns:a16="http://schemas.microsoft.com/office/drawing/2014/main" id="{C6B77682-1742-A30F-AF62-29E57F342668}"/>
              </a:ext>
            </a:extLst>
          </p:cNvPr>
          <p:cNvSpPr>
            <a:spLocks noChangeAspect="1"/>
          </p:cNvSpPr>
          <p:nvPr/>
        </p:nvSpPr>
        <p:spPr>
          <a:xfrm>
            <a:off x="7177058" y="4057540"/>
            <a:ext cx="1368000" cy="1179306"/>
          </a:xfrm>
          <a:prstGeom prst="hexagon">
            <a:avLst/>
          </a:prstGeom>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b="1" dirty="0"/>
          </a:p>
        </p:txBody>
      </p:sp>
      <p:sp>
        <p:nvSpPr>
          <p:cNvPr id="35" name="Hexagon 2">
            <a:extLst>
              <a:ext uri="{FF2B5EF4-FFF2-40B4-BE49-F238E27FC236}">
                <a16:creationId xmlns:a16="http://schemas.microsoft.com/office/drawing/2014/main" id="{354D112A-2693-E76E-A585-706812B2D604}"/>
              </a:ext>
            </a:extLst>
          </p:cNvPr>
          <p:cNvSpPr>
            <a:spLocks noChangeAspect="1"/>
          </p:cNvSpPr>
          <p:nvPr/>
        </p:nvSpPr>
        <p:spPr>
          <a:xfrm>
            <a:off x="2524118" y="1742123"/>
            <a:ext cx="1545125" cy="1332000"/>
          </a:xfrm>
          <a:prstGeom prst="hexagon">
            <a:avLst/>
          </a:prstGeom>
          <a:solidFill>
            <a:srgbClr val="CC66FF"/>
          </a:solidFill>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sp>
        <p:nvSpPr>
          <p:cNvPr id="36" name="Hexagon 2">
            <a:extLst>
              <a:ext uri="{FF2B5EF4-FFF2-40B4-BE49-F238E27FC236}">
                <a16:creationId xmlns:a16="http://schemas.microsoft.com/office/drawing/2014/main" id="{E4EAAC6E-B0A4-2BBB-F054-08B56A37DCED}"/>
              </a:ext>
            </a:extLst>
          </p:cNvPr>
          <p:cNvSpPr>
            <a:spLocks noChangeAspect="1"/>
          </p:cNvSpPr>
          <p:nvPr/>
        </p:nvSpPr>
        <p:spPr>
          <a:xfrm>
            <a:off x="4921386" y="2776149"/>
            <a:ext cx="1368000" cy="1179306"/>
          </a:xfrm>
          <a:prstGeom prst="hexagon">
            <a:avLst/>
          </a:prstGeom>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sp>
        <p:nvSpPr>
          <p:cNvPr id="37" name="Hexagon 2">
            <a:extLst>
              <a:ext uri="{FF2B5EF4-FFF2-40B4-BE49-F238E27FC236}">
                <a16:creationId xmlns:a16="http://schemas.microsoft.com/office/drawing/2014/main" id="{F27C0FDD-12DC-7D74-FB76-6A0F64791749}"/>
              </a:ext>
            </a:extLst>
          </p:cNvPr>
          <p:cNvSpPr>
            <a:spLocks noChangeAspect="1"/>
          </p:cNvSpPr>
          <p:nvPr/>
        </p:nvSpPr>
        <p:spPr>
          <a:xfrm>
            <a:off x="6044953" y="2198184"/>
            <a:ext cx="1368000" cy="1179306"/>
          </a:xfrm>
          <a:prstGeom prst="hexagon">
            <a:avLst/>
          </a:prstGeom>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100" b="1" dirty="0"/>
          </a:p>
        </p:txBody>
      </p:sp>
      <p:sp>
        <p:nvSpPr>
          <p:cNvPr id="38" name="TextBox 37">
            <a:extLst>
              <a:ext uri="{FF2B5EF4-FFF2-40B4-BE49-F238E27FC236}">
                <a16:creationId xmlns:a16="http://schemas.microsoft.com/office/drawing/2014/main" id="{E60143B0-69F4-E243-3B93-C97397E580C0}"/>
              </a:ext>
            </a:extLst>
          </p:cNvPr>
          <p:cNvSpPr txBox="1"/>
          <p:nvPr/>
        </p:nvSpPr>
        <p:spPr>
          <a:xfrm>
            <a:off x="6099103" y="4912678"/>
            <a:ext cx="1333955" cy="584775"/>
          </a:xfrm>
          <a:prstGeom prst="rect">
            <a:avLst/>
          </a:prstGeom>
          <a:noFill/>
        </p:spPr>
        <p:txBody>
          <a:bodyPr wrap="none" rtlCol="0">
            <a:spAutoFit/>
          </a:bodyPr>
          <a:lstStyle/>
          <a:p>
            <a:pPr algn="ctr"/>
            <a:r>
              <a:rPr lang="en-US" sz="1600" b="1" dirty="0"/>
              <a:t>Sustainable </a:t>
            </a:r>
          </a:p>
          <a:p>
            <a:pPr algn="ctr"/>
            <a:r>
              <a:rPr lang="en-US" sz="1600" b="1" dirty="0"/>
              <a:t>Development</a:t>
            </a:r>
            <a:endParaRPr lang="en-GB" sz="1600" b="1" dirty="0"/>
          </a:p>
        </p:txBody>
      </p:sp>
      <p:sp>
        <p:nvSpPr>
          <p:cNvPr id="39" name="TextBox 38">
            <a:extLst>
              <a:ext uri="{FF2B5EF4-FFF2-40B4-BE49-F238E27FC236}">
                <a16:creationId xmlns:a16="http://schemas.microsoft.com/office/drawing/2014/main" id="{BE8F1E76-6496-00CF-9D34-98B77ABB1EC5}"/>
              </a:ext>
            </a:extLst>
          </p:cNvPr>
          <p:cNvSpPr txBox="1"/>
          <p:nvPr/>
        </p:nvSpPr>
        <p:spPr>
          <a:xfrm>
            <a:off x="5065832" y="4267347"/>
            <a:ext cx="1044388" cy="584775"/>
          </a:xfrm>
          <a:prstGeom prst="rect">
            <a:avLst/>
          </a:prstGeom>
          <a:noFill/>
        </p:spPr>
        <p:txBody>
          <a:bodyPr wrap="none" rtlCol="0">
            <a:spAutoFit/>
          </a:bodyPr>
          <a:lstStyle/>
          <a:p>
            <a:pPr algn="ctr"/>
            <a:r>
              <a:rPr lang="en-US" sz="1600" b="1" dirty="0"/>
              <a:t>Natural </a:t>
            </a:r>
          </a:p>
          <a:p>
            <a:pPr algn="ctr"/>
            <a:r>
              <a:rPr lang="en-US" sz="1600" b="1" dirty="0"/>
              <a:t>Resources</a:t>
            </a:r>
            <a:endParaRPr lang="en-GB" sz="1600" b="1" dirty="0"/>
          </a:p>
        </p:txBody>
      </p:sp>
      <p:sp>
        <p:nvSpPr>
          <p:cNvPr id="40" name="TextBox 39">
            <a:extLst>
              <a:ext uri="{FF2B5EF4-FFF2-40B4-BE49-F238E27FC236}">
                <a16:creationId xmlns:a16="http://schemas.microsoft.com/office/drawing/2014/main" id="{AA23675E-4DE8-BA6E-0FDC-4D0D1F526D19}"/>
              </a:ext>
            </a:extLst>
          </p:cNvPr>
          <p:cNvSpPr txBox="1"/>
          <p:nvPr/>
        </p:nvSpPr>
        <p:spPr>
          <a:xfrm>
            <a:off x="7471167" y="4321297"/>
            <a:ext cx="829458" cy="584775"/>
          </a:xfrm>
          <a:prstGeom prst="rect">
            <a:avLst/>
          </a:prstGeom>
          <a:noFill/>
        </p:spPr>
        <p:txBody>
          <a:bodyPr wrap="none" rtlCol="0">
            <a:spAutoFit/>
          </a:bodyPr>
          <a:lstStyle/>
          <a:p>
            <a:pPr algn="ctr"/>
            <a:r>
              <a:rPr lang="en-US" sz="1600" b="1" dirty="0"/>
              <a:t>Climate</a:t>
            </a:r>
          </a:p>
          <a:p>
            <a:pPr algn="ctr"/>
            <a:r>
              <a:rPr lang="en-US" sz="1600" b="1" dirty="0"/>
              <a:t>Change</a:t>
            </a:r>
            <a:endParaRPr lang="en-GB" sz="1600" b="1" dirty="0"/>
          </a:p>
        </p:txBody>
      </p:sp>
      <p:sp>
        <p:nvSpPr>
          <p:cNvPr id="44" name="TextBox 43">
            <a:extLst>
              <a:ext uri="{FF2B5EF4-FFF2-40B4-BE49-F238E27FC236}">
                <a16:creationId xmlns:a16="http://schemas.microsoft.com/office/drawing/2014/main" id="{2D9695A0-9400-4D48-CA5C-EB8DB7B0C85B}"/>
              </a:ext>
            </a:extLst>
          </p:cNvPr>
          <p:cNvSpPr txBox="1"/>
          <p:nvPr/>
        </p:nvSpPr>
        <p:spPr>
          <a:xfrm>
            <a:off x="6011625" y="2587178"/>
            <a:ext cx="1434655" cy="584775"/>
          </a:xfrm>
          <a:prstGeom prst="rect">
            <a:avLst/>
          </a:prstGeom>
          <a:noFill/>
        </p:spPr>
        <p:txBody>
          <a:bodyPr wrap="square">
            <a:spAutoFit/>
          </a:bodyPr>
          <a:lstStyle/>
          <a:p>
            <a:pPr algn="ctr"/>
            <a:r>
              <a:rPr lang="en-US" sz="1600" b="1" dirty="0"/>
              <a:t>Environmental Monitoring</a:t>
            </a:r>
            <a:endParaRPr lang="en-GB" sz="1600" b="1" dirty="0"/>
          </a:p>
        </p:txBody>
      </p:sp>
      <p:sp>
        <p:nvSpPr>
          <p:cNvPr id="46" name="TextBox 45">
            <a:extLst>
              <a:ext uri="{FF2B5EF4-FFF2-40B4-BE49-F238E27FC236}">
                <a16:creationId xmlns:a16="http://schemas.microsoft.com/office/drawing/2014/main" id="{9A231245-03F8-28E7-AEB5-E3CA8B078667}"/>
              </a:ext>
            </a:extLst>
          </p:cNvPr>
          <p:cNvSpPr txBox="1"/>
          <p:nvPr/>
        </p:nvSpPr>
        <p:spPr>
          <a:xfrm>
            <a:off x="7156425" y="3085102"/>
            <a:ext cx="1434655" cy="584775"/>
          </a:xfrm>
          <a:prstGeom prst="rect">
            <a:avLst/>
          </a:prstGeom>
          <a:noFill/>
        </p:spPr>
        <p:txBody>
          <a:bodyPr wrap="square">
            <a:spAutoFit/>
          </a:bodyPr>
          <a:lstStyle/>
          <a:p>
            <a:pPr algn="ctr"/>
            <a:r>
              <a:rPr lang="en-US" sz="1600" b="1" dirty="0"/>
              <a:t>Smart</a:t>
            </a:r>
          </a:p>
          <a:p>
            <a:pPr algn="ctr"/>
            <a:r>
              <a:rPr lang="en-US" sz="1600" b="1" dirty="0"/>
              <a:t>Cities</a:t>
            </a:r>
            <a:endParaRPr lang="en-GB" sz="1600" b="1" dirty="0"/>
          </a:p>
        </p:txBody>
      </p:sp>
      <p:sp>
        <p:nvSpPr>
          <p:cNvPr id="47" name="TextBox 46">
            <a:extLst>
              <a:ext uri="{FF2B5EF4-FFF2-40B4-BE49-F238E27FC236}">
                <a16:creationId xmlns:a16="http://schemas.microsoft.com/office/drawing/2014/main" id="{433A7AD9-4BA7-A81E-008B-E6D403380D70}"/>
              </a:ext>
            </a:extLst>
          </p:cNvPr>
          <p:cNvSpPr txBox="1"/>
          <p:nvPr/>
        </p:nvSpPr>
        <p:spPr>
          <a:xfrm>
            <a:off x="4921386" y="3191647"/>
            <a:ext cx="1434655" cy="338554"/>
          </a:xfrm>
          <a:prstGeom prst="rect">
            <a:avLst/>
          </a:prstGeom>
          <a:noFill/>
        </p:spPr>
        <p:txBody>
          <a:bodyPr wrap="square">
            <a:spAutoFit/>
          </a:bodyPr>
          <a:lstStyle/>
          <a:p>
            <a:pPr algn="ctr"/>
            <a:r>
              <a:rPr lang="en-US" sz="1600" b="1" dirty="0"/>
              <a:t>Ecosystem</a:t>
            </a:r>
            <a:endParaRPr lang="en-GB" sz="1600" b="1" dirty="0"/>
          </a:p>
        </p:txBody>
      </p:sp>
      <p:sp>
        <p:nvSpPr>
          <p:cNvPr id="48" name="TextBox 47">
            <a:extLst>
              <a:ext uri="{FF2B5EF4-FFF2-40B4-BE49-F238E27FC236}">
                <a16:creationId xmlns:a16="http://schemas.microsoft.com/office/drawing/2014/main" id="{AFD5208E-4C7C-A31E-9D2B-11F7A00D9C59}"/>
              </a:ext>
            </a:extLst>
          </p:cNvPr>
          <p:cNvSpPr txBox="1"/>
          <p:nvPr/>
        </p:nvSpPr>
        <p:spPr>
          <a:xfrm>
            <a:off x="2487265" y="1993736"/>
            <a:ext cx="1645116" cy="830997"/>
          </a:xfrm>
          <a:prstGeom prst="rect">
            <a:avLst/>
          </a:prstGeom>
          <a:noFill/>
        </p:spPr>
        <p:txBody>
          <a:bodyPr wrap="square">
            <a:spAutoFit/>
          </a:bodyPr>
          <a:lstStyle/>
          <a:p>
            <a:pPr algn="ctr"/>
            <a:r>
              <a:rPr lang="en-US" sz="1600" b="1" dirty="0">
                <a:solidFill>
                  <a:schemeClr val="bg2"/>
                </a:solidFill>
              </a:rPr>
              <a:t>Smart Sensing</a:t>
            </a:r>
          </a:p>
          <a:p>
            <a:pPr algn="ctr"/>
            <a:r>
              <a:rPr lang="en-US" sz="1600" b="1" dirty="0">
                <a:solidFill>
                  <a:schemeClr val="bg2"/>
                </a:solidFill>
              </a:rPr>
              <a:t> &amp; Earth Observation </a:t>
            </a:r>
            <a:endParaRPr lang="en-GB" sz="1600" b="1" dirty="0">
              <a:solidFill>
                <a:schemeClr val="bg2"/>
              </a:solidFill>
            </a:endParaRPr>
          </a:p>
        </p:txBody>
      </p:sp>
      <p:sp>
        <p:nvSpPr>
          <p:cNvPr id="49" name="Hexagon 2">
            <a:extLst>
              <a:ext uri="{FF2B5EF4-FFF2-40B4-BE49-F238E27FC236}">
                <a16:creationId xmlns:a16="http://schemas.microsoft.com/office/drawing/2014/main" id="{90414972-1AB2-7C54-2EA1-F39BBE7950C6}"/>
              </a:ext>
            </a:extLst>
          </p:cNvPr>
          <p:cNvSpPr>
            <a:spLocks noChangeAspect="1"/>
          </p:cNvSpPr>
          <p:nvPr/>
        </p:nvSpPr>
        <p:spPr>
          <a:xfrm>
            <a:off x="2535391" y="3314235"/>
            <a:ext cx="1545125" cy="1332000"/>
          </a:xfrm>
          <a:prstGeom prst="hexagon">
            <a:avLst/>
          </a:prstGeom>
          <a:solidFill>
            <a:srgbClr val="CC66FF"/>
          </a:solidFill>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sp>
        <p:nvSpPr>
          <p:cNvPr id="51" name="TextBox 50">
            <a:extLst>
              <a:ext uri="{FF2B5EF4-FFF2-40B4-BE49-F238E27FC236}">
                <a16:creationId xmlns:a16="http://schemas.microsoft.com/office/drawing/2014/main" id="{6BAA6929-5C6E-00A5-D7CF-27925F32153E}"/>
              </a:ext>
            </a:extLst>
          </p:cNvPr>
          <p:cNvSpPr txBox="1"/>
          <p:nvPr/>
        </p:nvSpPr>
        <p:spPr>
          <a:xfrm>
            <a:off x="2479797" y="3774091"/>
            <a:ext cx="1645116" cy="830997"/>
          </a:xfrm>
          <a:prstGeom prst="rect">
            <a:avLst/>
          </a:prstGeom>
          <a:noFill/>
        </p:spPr>
        <p:txBody>
          <a:bodyPr wrap="square">
            <a:spAutoFit/>
          </a:bodyPr>
          <a:lstStyle/>
          <a:p>
            <a:pPr algn="ctr"/>
            <a:r>
              <a:rPr lang="en-US" sz="1600" b="1" dirty="0">
                <a:solidFill>
                  <a:schemeClr val="bg2"/>
                </a:solidFill>
              </a:rPr>
              <a:t>Spatial Analytics</a:t>
            </a:r>
          </a:p>
          <a:p>
            <a:pPr algn="ctr"/>
            <a:r>
              <a:rPr lang="en-US" sz="1600" b="1" dirty="0">
                <a:solidFill>
                  <a:schemeClr val="bg2"/>
                </a:solidFill>
              </a:rPr>
              <a:t>&amp; </a:t>
            </a:r>
          </a:p>
          <a:p>
            <a:pPr algn="ctr"/>
            <a:r>
              <a:rPr lang="en-US" sz="1600" b="1" dirty="0">
                <a:solidFill>
                  <a:schemeClr val="bg2"/>
                </a:solidFill>
              </a:rPr>
              <a:t>Geo-AI</a:t>
            </a:r>
            <a:endParaRPr lang="en-GB" sz="1600" b="1" dirty="0">
              <a:solidFill>
                <a:schemeClr val="bg2"/>
              </a:solidFill>
            </a:endParaRPr>
          </a:p>
        </p:txBody>
      </p:sp>
      <p:sp>
        <p:nvSpPr>
          <p:cNvPr id="52" name="Hexagon 2">
            <a:extLst>
              <a:ext uri="{FF2B5EF4-FFF2-40B4-BE49-F238E27FC236}">
                <a16:creationId xmlns:a16="http://schemas.microsoft.com/office/drawing/2014/main" id="{2C47358B-6431-5CE1-E7EA-F22F1E256B5A}"/>
              </a:ext>
            </a:extLst>
          </p:cNvPr>
          <p:cNvSpPr>
            <a:spLocks noChangeAspect="1"/>
          </p:cNvSpPr>
          <p:nvPr/>
        </p:nvSpPr>
        <p:spPr>
          <a:xfrm>
            <a:off x="2564401" y="4898185"/>
            <a:ext cx="1545125" cy="1332000"/>
          </a:xfrm>
          <a:prstGeom prst="hexagon">
            <a:avLst/>
          </a:prstGeom>
          <a:solidFill>
            <a:srgbClr val="CC66FF"/>
          </a:solidFill>
        </p:spPr>
        <p:style>
          <a:lnRef idx="0">
            <a:schemeClr val="accent4"/>
          </a:lnRef>
          <a:fillRef idx="3">
            <a:schemeClr val="accent4"/>
          </a:fillRef>
          <a:effectRef idx="3">
            <a:schemeClr val="accent4"/>
          </a:effectRef>
          <a:fontRef idx="minor">
            <a:schemeClr val="lt1"/>
          </a:fontRef>
        </p:style>
        <p:txBody>
          <a:bodyPr lIns="48000" tIns="48000" rIns="48000" bIns="48000" rtlCol="0" anchor="ctr"/>
          <a:lstStyle/>
          <a:p>
            <a:pPr algn="ctr" fontAlgn="base">
              <a:spcBef>
                <a:spcPct val="0"/>
              </a:spcBef>
              <a:spcAft>
                <a:spcPct val="0"/>
              </a:spcAft>
            </a:pPr>
            <a:endParaRPr kumimoji="1" lang="en-US" altLang="zh-CN" sz="1400" b="1" dirty="0"/>
          </a:p>
        </p:txBody>
      </p:sp>
      <p:sp>
        <p:nvSpPr>
          <p:cNvPr id="53" name="TextBox 52">
            <a:extLst>
              <a:ext uri="{FF2B5EF4-FFF2-40B4-BE49-F238E27FC236}">
                <a16:creationId xmlns:a16="http://schemas.microsoft.com/office/drawing/2014/main" id="{F0994E1A-6ED5-A839-3939-452432D36A34}"/>
              </a:ext>
            </a:extLst>
          </p:cNvPr>
          <p:cNvSpPr txBox="1"/>
          <p:nvPr/>
        </p:nvSpPr>
        <p:spPr>
          <a:xfrm>
            <a:off x="2493184" y="5025576"/>
            <a:ext cx="1645116" cy="1077218"/>
          </a:xfrm>
          <a:prstGeom prst="rect">
            <a:avLst/>
          </a:prstGeom>
          <a:noFill/>
        </p:spPr>
        <p:txBody>
          <a:bodyPr wrap="square">
            <a:spAutoFit/>
          </a:bodyPr>
          <a:lstStyle/>
          <a:p>
            <a:pPr algn="ctr"/>
            <a:r>
              <a:rPr lang="en-GB" sz="1600" b="1" dirty="0">
                <a:solidFill>
                  <a:schemeClr val="bg2"/>
                </a:solidFill>
              </a:rPr>
              <a:t>Big Data </a:t>
            </a:r>
          </a:p>
          <a:p>
            <a:pPr algn="ctr"/>
            <a:r>
              <a:rPr lang="en-GB" sz="1600" b="1" dirty="0">
                <a:solidFill>
                  <a:schemeClr val="bg2"/>
                </a:solidFill>
              </a:rPr>
              <a:t>&amp;</a:t>
            </a:r>
          </a:p>
          <a:p>
            <a:pPr algn="ctr"/>
            <a:r>
              <a:rPr lang="en-GB" sz="1600" b="1" dirty="0">
                <a:solidFill>
                  <a:schemeClr val="bg2"/>
                </a:solidFill>
              </a:rPr>
              <a:t> Cloud Computing</a:t>
            </a:r>
            <a:endParaRPr lang="en-US" sz="1600" b="1" dirty="0">
              <a:solidFill>
                <a:schemeClr val="bg2"/>
              </a:solidFill>
            </a:endParaRPr>
          </a:p>
        </p:txBody>
      </p:sp>
      <p:sp>
        <p:nvSpPr>
          <p:cNvPr id="6" name="Title 1">
            <a:extLst>
              <a:ext uri="{FF2B5EF4-FFF2-40B4-BE49-F238E27FC236}">
                <a16:creationId xmlns:a16="http://schemas.microsoft.com/office/drawing/2014/main" id="{8EEFC90F-2CA9-002E-A66F-DD66C1AC7D50}"/>
              </a:ext>
            </a:extLst>
          </p:cNvPr>
          <p:cNvSpPr>
            <a:spLocks noGrp="1"/>
          </p:cNvSpPr>
          <p:nvPr>
            <p:ph type="title"/>
          </p:nvPr>
        </p:nvSpPr>
        <p:spPr>
          <a:xfrm>
            <a:off x="609600" y="518160"/>
            <a:ext cx="11168219"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Smart Sensing for Climate and Development </a:t>
            </a:r>
            <a:endParaRPr lang="en-GB"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03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tanding at a podium&#10;&#10;Description automatically generated with medium confidence">
            <a:extLst>
              <a:ext uri="{FF2B5EF4-FFF2-40B4-BE49-F238E27FC236}">
                <a16:creationId xmlns:a16="http://schemas.microsoft.com/office/drawing/2014/main" id="{82130BB3-F82A-E892-6640-7F1F291D61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32259" y="1457998"/>
            <a:ext cx="2700000" cy="3600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descr="A group of people posing for a photo&#10;&#10;Description automatically generated">
            <a:extLst>
              <a:ext uri="{FF2B5EF4-FFF2-40B4-BE49-F238E27FC236}">
                <a16:creationId xmlns:a16="http://schemas.microsoft.com/office/drawing/2014/main" id="{9A429FCB-606C-0607-AE4A-1887772FD5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844" y="3376398"/>
            <a:ext cx="2398500" cy="1800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descr="A picture containing text, wall, indoor, floor&#10;&#10;Description automatically generated">
            <a:extLst>
              <a:ext uri="{FF2B5EF4-FFF2-40B4-BE49-F238E27FC236}">
                <a16:creationId xmlns:a16="http://schemas.microsoft.com/office/drawing/2014/main" id="{1DB79480-957E-01A6-C678-497F793738D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23339" y="5508206"/>
            <a:ext cx="1799721" cy="134979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1" name="Picture 10" descr="A person standing at a podium&#10;&#10;Description automatically generated with low confidence">
            <a:extLst>
              <a:ext uri="{FF2B5EF4-FFF2-40B4-BE49-F238E27FC236}">
                <a16:creationId xmlns:a16="http://schemas.microsoft.com/office/drawing/2014/main" id="{B9F789EC-2A6A-A770-BD19-B6D2478D747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51095" y="3791824"/>
            <a:ext cx="2210036" cy="1657527"/>
          </a:xfrm>
          <a:prstGeom prst="ellipse">
            <a:avLst/>
          </a:prstGeom>
          <a:ln>
            <a:noFill/>
          </a:ln>
          <a:effectLst>
            <a:softEdge rad="112500"/>
          </a:effectLst>
        </p:spPr>
      </p:pic>
      <p:pic>
        <p:nvPicPr>
          <p:cNvPr id="13" name="Picture 12" descr="A picture containing text, indoor, desk&#10;&#10;Description automatically generated">
            <a:extLst>
              <a:ext uri="{FF2B5EF4-FFF2-40B4-BE49-F238E27FC236}">
                <a16:creationId xmlns:a16="http://schemas.microsoft.com/office/drawing/2014/main" id="{4775A631-3931-13F6-868A-E77A3EB6D61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17" y="5491558"/>
            <a:ext cx="2049663" cy="136644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5" name="Picture 14" descr="A person standing at a podium with balloons in front of him&#10;&#10;Description automatically generated with low confidence">
            <a:extLst>
              <a:ext uri="{FF2B5EF4-FFF2-40B4-BE49-F238E27FC236}">
                <a16:creationId xmlns:a16="http://schemas.microsoft.com/office/drawing/2014/main" id="{63CF7ADB-122F-C29C-E017-9056A8DC9F5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28608" y="5508207"/>
            <a:ext cx="2049663" cy="136644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7" name="Picture 16" descr="A group of people sitting around a table with food on it&#10;&#10;Description automatically generated">
            <a:extLst>
              <a:ext uri="{FF2B5EF4-FFF2-40B4-BE49-F238E27FC236}">
                <a16:creationId xmlns:a16="http://schemas.microsoft.com/office/drawing/2014/main" id="{92D10B9C-C2B5-DDE0-EDBB-BEFD7516632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33877" y="5508207"/>
            <a:ext cx="2049663" cy="136644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9" name="Picture 18" descr="A group of people posing for a photo&#10;&#10;Description automatically generated">
            <a:extLst>
              <a:ext uri="{FF2B5EF4-FFF2-40B4-BE49-F238E27FC236}">
                <a16:creationId xmlns:a16="http://schemas.microsoft.com/office/drawing/2014/main" id="{9197E712-430B-A2F3-16C1-8A25191489D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1680" y="5491556"/>
            <a:ext cx="2049663" cy="136644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1" name="Picture 20" descr="A picture containing text&#10;&#10;Description automatically generated">
            <a:extLst>
              <a:ext uri="{FF2B5EF4-FFF2-40B4-BE49-F238E27FC236}">
                <a16:creationId xmlns:a16="http://schemas.microsoft.com/office/drawing/2014/main" id="{55723302-2F4A-4A3B-EBA1-FB4672DE47C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5017174" y="1907998"/>
            <a:ext cx="3600000" cy="2700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3" name="Picture 22" descr="A group of people standing around a door&#10;&#10;Description automatically generated with low confidence">
            <a:extLst>
              <a:ext uri="{FF2B5EF4-FFF2-40B4-BE49-F238E27FC236}">
                <a16:creationId xmlns:a16="http://schemas.microsoft.com/office/drawing/2014/main" id="{9C60B800-048D-7413-2D3A-29268B427FC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28894" y="1482274"/>
            <a:ext cx="2368450" cy="1578967"/>
          </a:xfrm>
          <a:prstGeom prst="ellipse">
            <a:avLst/>
          </a:prstGeom>
          <a:ln>
            <a:noFill/>
          </a:ln>
          <a:effectLst>
            <a:softEdge rad="112500"/>
          </a:effectLst>
        </p:spPr>
      </p:pic>
      <p:pic>
        <p:nvPicPr>
          <p:cNvPr id="25" name="Picture 24" descr="A group of people standing in a room&#10;&#10;Description automatically generated with medium confidence">
            <a:extLst>
              <a:ext uri="{FF2B5EF4-FFF2-40B4-BE49-F238E27FC236}">
                <a16:creationId xmlns:a16="http://schemas.microsoft.com/office/drawing/2014/main" id="{725B2528-7AFD-B57A-D911-BD7652310F7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310058" y="1471850"/>
            <a:ext cx="2245731" cy="1497154"/>
          </a:xfrm>
          <a:prstGeom prst="ellipse">
            <a:avLst/>
          </a:prstGeom>
          <a:ln>
            <a:noFill/>
          </a:ln>
          <a:effectLst>
            <a:softEdge rad="112500"/>
          </a:effectLst>
        </p:spPr>
      </p:pic>
      <p:pic>
        <p:nvPicPr>
          <p:cNvPr id="27" name="Picture 26" descr="A picture containing indoor, wall, cat, laying&#10;&#10;Description automatically generated">
            <a:extLst>
              <a:ext uri="{FF2B5EF4-FFF2-40B4-BE49-F238E27FC236}">
                <a16:creationId xmlns:a16="http://schemas.microsoft.com/office/drawing/2014/main" id="{86E1520E-77E2-7A24-89A3-06B46D943FC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rot="16200000">
            <a:off x="7882813" y="3319549"/>
            <a:ext cx="2515653" cy="1677102"/>
          </a:xfrm>
          <a:prstGeom prst="ellipse">
            <a:avLst/>
          </a:prstGeom>
          <a:ln>
            <a:noFill/>
          </a:ln>
          <a:effectLst>
            <a:softEdge rad="112500"/>
          </a:effectLst>
        </p:spPr>
      </p:pic>
      <p:pic>
        <p:nvPicPr>
          <p:cNvPr id="29" name="Picture 28" descr="A picture containing text, indoor, feet&#10;&#10;Description automatically generated">
            <a:extLst>
              <a:ext uri="{FF2B5EF4-FFF2-40B4-BE49-F238E27FC236}">
                <a16:creationId xmlns:a16="http://schemas.microsoft.com/office/drawing/2014/main" id="{9898E901-78B4-6C34-4867-26B8D71AEA7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rot="16200000">
            <a:off x="10266210" y="1837069"/>
            <a:ext cx="2274425" cy="1516283"/>
          </a:xfrm>
          <a:prstGeom prst="ellipse">
            <a:avLst/>
          </a:prstGeom>
          <a:ln>
            <a:noFill/>
          </a:ln>
          <a:effectLst>
            <a:softEdge rad="112500"/>
          </a:effectLst>
        </p:spPr>
      </p:pic>
      <p:pic>
        <p:nvPicPr>
          <p:cNvPr id="31" name="Picture 30" descr="A group of men standing in a room&#10;&#10;Description automatically generated with medium confidence">
            <a:extLst>
              <a:ext uri="{FF2B5EF4-FFF2-40B4-BE49-F238E27FC236}">
                <a16:creationId xmlns:a16="http://schemas.microsoft.com/office/drawing/2014/main" id="{53F51672-2540-BD8F-DC57-229EE4C85E8F}"/>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168128" y="5508750"/>
            <a:ext cx="2023872" cy="134924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2" name="Title 1">
            <a:extLst>
              <a:ext uri="{FF2B5EF4-FFF2-40B4-BE49-F238E27FC236}">
                <a16:creationId xmlns:a16="http://schemas.microsoft.com/office/drawing/2014/main" id="{4E123188-3352-4D5F-B7B4-9AA7E9422E53}"/>
              </a:ext>
            </a:extLst>
          </p:cNvPr>
          <p:cNvSpPr>
            <a:spLocks noGrp="1"/>
          </p:cNvSpPr>
          <p:nvPr>
            <p:ph type="title"/>
          </p:nvPr>
        </p:nvSpPr>
        <p:spPr>
          <a:xfrm>
            <a:off x="1084447" y="593319"/>
            <a:ext cx="10259290" cy="672176"/>
          </a:xfrm>
        </p:spPr>
        <p:txBody>
          <a:bodyPr>
            <a:normAutofit/>
          </a:bodyPr>
          <a:lstStyle/>
          <a:p>
            <a:r>
              <a:rPr lang="en-US" sz="2400" b="1" dirty="0">
                <a:solidFill>
                  <a:srgbClr val="C00000"/>
                </a:solidFill>
                <a:latin typeface="Times New Roman" panose="02020603050405020304" pitchFamily="18" charset="0"/>
                <a:cs typeface="Times New Roman" panose="02020603050405020304" pitchFamily="18" charset="0"/>
              </a:rPr>
              <a:t>Inauguration of the SCD on 17 Nov 2022</a:t>
            </a:r>
            <a:endParaRPr lang="en-GB" sz="2400" b="1" dirty="0">
              <a:solidFill>
                <a:srgbClr val="C00000"/>
              </a:solidFill>
              <a:latin typeface="Times New Roman" panose="02020603050405020304" pitchFamily="18" charset="0"/>
              <a:cs typeface="Times New Roman" panose="02020603050405020304" pitchFamily="18" charset="0"/>
            </a:endParaRPr>
          </a:p>
        </p:txBody>
      </p:sp>
      <p:pic>
        <p:nvPicPr>
          <p:cNvPr id="33" name="Picture 32">
            <a:extLst>
              <a:ext uri="{FF2B5EF4-FFF2-40B4-BE49-F238E27FC236}">
                <a16:creationId xmlns:a16="http://schemas.microsoft.com/office/drawing/2014/main" id="{6208E103-FCAD-87A9-4522-E4166AC520F5}"/>
              </a:ext>
            </a:extLst>
          </p:cNvPr>
          <p:cNvPicPr>
            <a:picLocks noChangeAspect="1"/>
          </p:cNvPicPr>
          <p:nvPr/>
        </p:nvPicPr>
        <p:blipFill rotWithShape="1">
          <a:blip r:embed="rId16"/>
          <a:srcRect l="2134" t="20267" r="55068" b="8953"/>
          <a:stretch/>
        </p:blipFill>
        <p:spPr>
          <a:xfrm>
            <a:off x="101600" y="68253"/>
            <a:ext cx="696572" cy="648000"/>
          </a:xfrm>
          <a:prstGeom prst="rect">
            <a:avLst/>
          </a:prstGeom>
        </p:spPr>
      </p:pic>
    </p:spTree>
    <p:extLst>
      <p:ext uri="{BB962C8B-B14F-4D97-AF65-F5344CB8AC3E}">
        <p14:creationId xmlns:p14="http://schemas.microsoft.com/office/powerpoint/2010/main" val="4135356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2625" y="91440"/>
            <a:ext cx="6616931" cy="906087"/>
          </a:xfrm>
        </p:spPr>
        <p:txBody>
          <a:bodyPr>
            <a:noAutofit/>
          </a:bodyPr>
          <a:lstStyle/>
          <a:p>
            <a:pPr algn="ctr"/>
            <a:r>
              <a:rPr lang="en-US" sz="6000" b="1" dirty="0"/>
              <a:t>MPhil Lab</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15027"/>
          <a:stretch/>
        </p:blipFill>
        <p:spPr>
          <a:xfrm>
            <a:off x="1538515" y="885371"/>
            <a:ext cx="9144000" cy="5827486"/>
          </a:xfrm>
          <a:prstGeom prst="rect">
            <a:avLst/>
          </a:prstGeom>
          <a:ln>
            <a:solidFill>
              <a:schemeClr val="bg1">
                <a:lumMod val="65000"/>
              </a:schemeClr>
            </a:solidFill>
          </a:ln>
        </p:spPr>
      </p:pic>
    </p:spTree>
    <p:extLst>
      <p:ext uri="{BB962C8B-B14F-4D97-AF65-F5344CB8AC3E}">
        <p14:creationId xmlns:p14="http://schemas.microsoft.com/office/powerpoint/2010/main" val="3183913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2625" y="91440"/>
            <a:ext cx="6616931" cy="906087"/>
          </a:xfrm>
        </p:spPr>
        <p:txBody>
          <a:bodyPr>
            <a:noAutofit/>
          </a:bodyPr>
          <a:lstStyle/>
          <a:p>
            <a:r>
              <a:rPr lang="en-US" sz="6000" dirty="0"/>
              <a:t>New </a:t>
            </a:r>
            <a:r>
              <a:rPr lang="en-US" sz="6000" b="1" dirty="0"/>
              <a:t>Research Lab</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11807"/>
          <a:stretch/>
        </p:blipFill>
        <p:spPr>
          <a:xfrm>
            <a:off x="1548364" y="953985"/>
            <a:ext cx="8742264" cy="5782528"/>
          </a:xfrm>
          <a:prstGeom prst="rect">
            <a:avLst/>
          </a:prstGeom>
          <a:ln w="88900" cap="sq" cmpd="thickThin">
            <a:noFill/>
            <a:prstDash val="solid"/>
            <a:miter lim="800000"/>
          </a:ln>
          <a:effectLst>
            <a:innerShdw blurRad="76200">
              <a:srgbClr val="000000"/>
            </a:innerShdw>
          </a:effectLst>
        </p:spPr>
      </p:pic>
    </p:spTree>
    <p:extLst>
      <p:ext uri="{BB962C8B-B14F-4D97-AF65-F5344CB8AC3E}">
        <p14:creationId xmlns:p14="http://schemas.microsoft.com/office/powerpoint/2010/main" val="422436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078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b="17305"/>
          <a:stretch/>
        </p:blipFill>
        <p:spPr>
          <a:xfrm>
            <a:off x="0" y="0"/>
            <a:ext cx="12192000" cy="6858000"/>
          </a:xfrm>
          <a:prstGeom prst="rect">
            <a:avLst/>
          </a:prstGeom>
        </p:spPr>
      </p:pic>
      <p:sp>
        <p:nvSpPr>
          <p:cNvPr id="5" name="Slide Number Placeholder 4"/>
          <p:cNvSpPr>
            <a:spLocks noGrp="1"/>
          </p:cNvSpPr>
          <p:nvPr>
            <p:ph type="sldNum" sz="quarter" idx="12"/>
          </p:nvPr>
        </p:nvSpPr>
        <p:spPr>
          <a:xfrm>
            <a:off x="9448800" y="6492875"/>
            <a:ext cx="2743200" cy="365125"/>
          </a:xfrm>
        </p:spPr>
        <p:txBody>
          <a:bodyPr/>
          <a:lstStyle/>
          <a:p>
            <a:fld id="{B6F15528-21DE-4FAA-801E-634DDDAF4B2B}" type="slidenum">
              <a:rPr lang="en-US" smtClean="0"/>
              <a:pPr/>
              <a:t>10</a:t>
            </a:fld>
            <a:endParaRPr lang="en-US" dirty="0"/>
          </a:p>
        </p:txBody>
      </p:sp>
      <p:sp>
        <p:nvSpPr>
          <p:cNvPr id="8" name="Title 1"/>
          <p:cNvSpPr txBox="1">
            <a:spLocks/>
          </p:cNvSpPr>
          <p:nvPr/>
        </p:nvSpPr>
        <p:spPr>
          <a:xfrm>
            <a:off x="891435" y="-107285"/>
            <a:ext cx="9144000" cy="895102"/>
          </a:xfrm>
          <a:prstGeom prst="rect">
            <a:avLst/>
          </a:prstGeom>
          <a:noFill/>
        </p:spPr>
        <p:txBody>
          <a:bodyPr anchor="t">
            <a:noAutofit/>
          </a:bodyPr>
          <a:lstStyle/>
          <a:p>
            <a:pPr algn="ctr"/>
            <a:r>
              <a:rPr lang="en-US" sz="4400" b="1" i="1" dirty="0">
                <a:solidFill>
                  <a:srgbClr val="0505FF"/>
                </a:solidFill>
                <a:latin typeface="Times New Roman" pitchFamily="18" charset="0"/>
                <a:cs typeface="Times New Roman" pitchFamily="18" charset="0"/>
              </a:rPr>
              <a:t>Thank you for your attention!</a:t>
            </a:r>
            <a:endParaRPr lang="th-TH" sz="4400" b="1" i="1" dirty="0">
              <a:solidFill>
                <a:srgbClr val="0505FF"/>
              </a:solidFill>
              <a:latin typeface="Times New Roman" pitchFamily="18" charset="0"/>
              <a:cs typeface="Times New Roman" pitchFamily="18" charset="0"/>
            </a:endParaRPr>
          </a:p>
        </p:txBody>
      </p:sp>
    </p:spTree>
    <p:extLst>
      <p:ext uri="{BB962C8B-B14F-4D97-AF65-F5344CB8AC3E}">
        <p14:creationId xmlns:p14="http://schemas.microsoft.com/office/powerpoint/2010/main" val="3802589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95F45E2ED58054589249FBB47AB3B6E" ma:contentTypeVersion="13" ma:contentTypeDescription="Create a new document." ma:contentTypeScope="" ma:versionID="d505251af7a08c1f6f5de0f7e1d2d945">
  <xsd:schema xmlns:xsd="http://www.w3.org/2001/XMLSchema" xmlns:xs="http://www.w3.org/2001/XMLSchema" xmlns:p="http://schemas.microsoft.com/office/2006/metadata/properties" xmlns:ns3="07f6345c-b672-43e2-9dec-68bcef738519" xmlns:ns4="b0d69bec-bfbd-46e1-8f4a-625dd82a6915" targetNamespace="http://schemas.microsoft.com/office/2006/metadata/properties" ma:root="true" ma:fieldsID="f6ca87367031b443ebd83e2b7567d753" ns3:_="" ns4:_="">
    <xsd:import namespace="07f6345c-b672-43e2-9dec-68bcef738519"/>
    <xsd:import namespace="b0d69bec-bfbd-46e1-8f4a-625dd82a691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f6345c-b672-43e2-9dec-68bcef738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0d69bec-bfbd-46e1-8f4a-625dd82a691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6095DF-9F4A-4A89-981E-D31A9D8AC890}">
  <ds:schemaRefs>
    <ds:schemaRef ds:uri="http://schemas.microsoft.com/sharepoint/v3/contenttype/forms"/>
  </ds:schemaRefs>
</ds:datastoreItem>
</file>

<file path=customXml/itemProps2.xml><?xml version="1.0" encoding="utf-8"?>
<ds:datastoreItem xmlns:ds="http://schemas.openxmlformats.org/officeDocument/2006/customXml" ds:itemID="{F9818567-A594-42CA-AE73-91660C0F26A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4E3A923-9031-43A5-A1E7-60685DC109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f6345c-b672-43e2-9dec-68bcef738519"/>
    <ds:schemaRef ds:uri="b0d69bec-bfbd-46e1-8f4a-625dd82a69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4175</TotalTime>
  <Words>229</Words>
  <Application>Microsoft Office PowerPoint</Application>
  <PresentationFormat>Widescreen</PresentationFormat>
  <Paragraphs>47</Paragraphs>
  <Slides>10</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Calibri Light</vt:lpstr>
      <vt:lpstr>Times New Roman</vt:lpstr>
      <vt:lpstr>Wingdings</vt:lpstr>
      <vt:lpstr>Office Theme</vt:lpstr>
      <vt:lpstr>1_Office Theme</vt:lpstr>
      <vt:lpstr>New Developments in the Centre for Geographical Information System </vt:lpstr>
      <vt:lpstr>PhD Program </vt:lpstr>
      <vt:lpstr>Smart Sensing for Climate and Development </vt:lpstr>
      <vt:lpstr>Smart Sensing for Climate and Development </vt:lpstr>
      <vt:lpstr>Smart Sensing for Climate and Development </vt:lpstr>
      <vt:lpstr>Inauguration of the SCD on 17 Nov 2022</vt:lpstr>
      <vt:lpstr>MPhil Lab</vt:lpstr>
      <vt:lpstr>New Research Lab</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RS</dc:creator>
  <cp:lastModifiedBy>ABBAS, Sawaid [Alumni]</cp:lastModifiedBy>
  <cp:revision>184</cp:revision>
  <cp:lastPrinted>2020-07-16T12:11:43Z</cp:lastPrinted>
  <dcterms:created xsi:type="dcterms:W3CDTF">2017-01-12T04:33:20Z</dcterms:created>
  <dcterms:modified xsi:type="dcterms:W3CDTF">2022-12-03T09:23:21Z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0x010100495F45E2ED58054589249FBB47AB3B6E</vt:lpwstr>
  </property>
</Properties>
</file>